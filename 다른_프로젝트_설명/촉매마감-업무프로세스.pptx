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e3fd08abaf4eec" /><Relationship Type="http://schemas.openxmlformats.org/officeDocument/2006/relationships/extended-properties" Target="/docProps/app.xml" Id="R32823c1a01c54c87" /><Relationship Type="http://schemas.openxmlformats.org/officeDocument/2006/relationships/officeDocument" Target="/ppt/presentation.xml" Id="Rec35df022f9748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1fba72d8ab4619"/>
  </p:sldMasterIdLst>
  <p:notesMasterIdLst>
    <p:notesMasterId xmlns:r="http://schemas.openxmlformats.org/officeDocument/2006/relationships" r:id="R8a6dc6b304c34731"/>
  </p:notesMasterIdLst>
  <p:sldIdLst>
    <p:sldId xmlns:r="http://schemas.openxmlformats.org/officeDocument/2006/relationships" id="256" r:id="R135416eeed6a4b8e"/>
    <p:sldId xmlns:r="http://schemas.openxmlformats.org/officeDocument/2006/relationships" id="257" r:id="R3f05d2ee14cf4cb4"/>
    <p:sldId xmlns:r="http://schemas.openxmlformats.org/officeDocument/2006/relationships" id="258" r:id="R2737f23a0db3461d"/>
    <p:sldId xmlns:r="http://schemas.openxmlformats.org/officeDocument/2006/relationships" id="259" r:id="R008364728f87417e"/>
    <p:sldId xmlns:r="http://schemas.openxmlformats.org/officeDocument/2006/relationships" id="260" r:id="R5511055412364f80"/>
    <p:sldId xmlns:r="http://schemas.openxmlformats.org/officeDocument/2006/relationships" id="261" r:id="R96857fef0dbf4a82"/>
    <p:sldId xmlns:r="http://schemas.openxmlformats.org/officeDocument/2006/relationships" id="262" r:id="R9be199662cc24684"/>
    <p:sldId xmlns:r="http://schemas.openxmlformats.org/officeDocument/2006/relationships" id="263" r:id="Rce44f9756bdd4d57"/>
    <p:sldId xmlns:r="http://schemas.openxmlformats.org/officeDocument/2006/relationships" id="264" r:id="Ra15fdd273cfa49d2"/>
    <p:sldId xmlns:r="http://schemas.openxmlformats.org/officeDocument/2006/relationships" id="265" r:id="R0ff0d73df2334c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9f833c489947ad" /><Relationship Type="http://schemas.openxmlformats.org/officeDocument/2006/relationships/slideMaster" Target="/ppt/slideMasters/slideMaster1.xml" Id="R681fba72d8ab4619" /><Relationship Type="http://schemas.openxmlformats.org/officeDocument/2006/relationships/notesMaster" Target="/ppt/notesMasters/notesMaster1.xml" Id="R8a6dc6b304c34731" /><Relationship Type="http://schemas.openxmlformats.org/officeDocument/2006/relationships/presProps" Target="/ppt/presProps.xml" Id="Rcdf925c3612745be" /><Relationship Type="http://schemas.openxmlformats.org/officeDocument/2006/relationships/tableStyles" Target="/ppt/tableStyles.xml" Id="Ra82ca01aa2a9402a" /><Relationship Type="http://schemas.openxmlformats.org/officeDocument/2006/relationships/slide" Target="/ppt/slides/slide1.xml" Id="R135416eeed6a4b8e" /><Relationship Type="http://schemas.openxmlformats.org/officeDocument/2006/relationships/slide" Target="/ppt/slides/slide2.xml" Id="R3f05d2ee14cf4cb4" /><Relationship Type="http://schemas.openxmlformats.org/officeDocument/2006/relationships/slide" Target="/ppt/slides/slide3.xml" Id="R2737f23a0db3461d" /><Relationship Type="http://schemas.openxmlformats.org/officeDocument/2006/relationships/slide" Target="/ppt/slides/slide4.xml" Id="R008364728f87417e" /><Relationship Type="http://schemas.openxmlformats.org/officeDocument/2006/relationships/slide" Target="/ppt/slides/slide5.xml" Id="R5511055412364f80" /><Relationship Type="http://schemas.openxmlformats.org/officeDocument/2006/relationships/slide" Target="/ppt/slides/slide6.xml" Id="R96857fef0dbf4a82" /><Relationship Type="http://schemas.openxmlformats.org/officeDocument/2006/relationships/slide" Target="/ppt/slides/slide7.xml" Id="R9be199662cc24684" /><Relationship Type="http://schemas.openxmlformats.org/officeDocument/2006/relationships/slide" Target="/ppt/slides/slide8.xml" Id="Rce44f9756bdd4d57" /><Relationship Type="http://schemas.openxmlformats.org/officeDocument/2006/relationships/slide" Target="/ppt/slides/slide9.xml" Id="Ra15fdd273cfa49d2" /><Relationship Type="http://schemas.openxmlformats.org/officeDocument/2006/relationships/slide" Target="/ppt/slides/slide10.xml" Id="R0ff0d73df2334c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cf223f853e43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a1732d923245e0" /><Relationship Type="http://schemas.openxmlformats.org/officeDocument/2006/relationships/notesMaster" Target="/ppt/notesMasters/notesMaster1.xml" Id="Rcc58ca0fb71d42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8f9de8816f4f4d" /><Relationship Type="http://schemas.openxmlformats.org/officeDocument/2006/relationships/notesMaster" Target="/ppt/notesMasters/notesMaster1.xml" Id="R2e569501e02b41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99694cad1b48e2" /><Relationship Type="http://schemas.openxmlformats.org/officeDocument/2006/relationships/notesMaster" Target="/ppt/notesMasters/notesMaster1.xml" Id="Rde14f378322142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71e827ae87426e" /><Relationship Type="http://schemas.openxmlformats.org/officeDocument/2006/relationships/notesMaster" Target="/ppt/notesMasters/notesMaster1.xml" Id="Rf668d23a876c4a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395fbdfc02494f" /><Relationship Type="http://schemas.openxmlformats.org/officeDocument/2006/relationships/notesMaster" Target="/ppt/notesMasters/notesMaster1.xml" Id="R99ceecc936ec47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f6b1dd698c4006" /><Relationship Type="http://schemas.openxmlformats.org/officeDocument/2006/relationships/notesMaster" Target="/ppt/notesMasters/notesMaster1.xml" Id="R47e19819595447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487a71ee8e495f" /><Relationship Type="http://schemas.openxmlformats.org/officeDocument/2006/relationships/notesMaster" Target="/ppt/notesMasters/notesMaster1.xml" Id="Re068fc28dde44e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b471b885e34719" /><Relationship Type="http://schemas.openxmlformats.org/officeDocument/2006/relationships/notesMaster" Target="/ppt/notesMasters/notesMaster1.xml" Id="Rfbd3f079436a4c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ffb561ecef441c" /><Relationship Type="http://schemas.openxmlformats.org/officeDocument/2006/relationships/notesMaster" Target="/ppt/notesMasters/notesMaster1.xml" Id="R993afa422cbc48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e67321d8e04e36" /><Relationship Type="http://schemas.openxmlformats.org/officeDocument/2006/relationships/notesMaster" Target="/ppt/notesMasters/notesMaster1.xml" Id="R069d7a6e32144a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D:/Documents/CODEX/촉매마감_rev1/.analysis/Catalyst_Cutoff/docs/process/촉매마감-업무프로세스.md</a:t>
            </a:r>
          </a:p>
          <a:p xmlns:a="http://schemas.openxmlformats.org/drawingml/2006/main">
            <a:r>
              <a:t>작성 기준: 2026-10-13. 다른 프로젝트 촉매마감_rev1의 업무 및 개발 설명.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처음 보는 사람을 위한 촉매 마감 업무 프로세스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작성 기준: 2026-10-13. 대상: 신규 마감 담당자, 업무 인수인계자, 프로그램 개발자.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**촉매 마감은 이번 달에 정산할 촉매의 수량·금액과 마감처를 확정하고, 정산하지 못한 수량을 다음 달로 넘기는 업무입니다.** 우리 회사에 촉매가 들어온 수량, 제품을 만든 수량, 실제 정산하는 수량은 서로 다를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문서는 현재 합의된 업무를 설명합니다. 프로그램은 현재 월 작업·메모 저장까지만 구현되어 있습니다. 아래 자료 읽기·배분·검산·확정·엑셀 출력은 앞으로 구현할 업무 흐름입니다. 실제 ERP나 현대기아 시스템에 자동 등록하는 기능은 현재 범위에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D:/Documents/CODEX/촉매마감_rev1/.analysis/Catalyst_Cutoff/docs/process/촉매마감-업무프로세스.md</a:t>
            </a:r>
          </a:p>
          <a:p xmlns:a="http://schemas.openxmlformats.org/drawingml/2006/main">
            <a:r>
              <a:t>작성 기준: 2026-10-13. 다른 프로젝트 촉매마감_rev1의 업무 및 개발 설명.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먼저 실물이 어떻게 움직이는지 이해합니다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촉매사인 희성촉매·유미코아에서 촉매를 받아 컨버터 제품을 만듭니다. 제품이 바로 공장으로 가거나, 다른 업체·우리 당진공장을 거쳐 머플러로 조립된 뒤 최종 공장으로 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LR</a:t>
            </a:r>
          </a:p>
          <a:p xmlns:a="http://schemas.openxmlformats.org/drawingml/2006/main">
            <a:r>
              <a:t>  A[희성촉매·유미코아] --&gt; B[우신공업 촉매 입고]</a:t>
            </a:r>
          </a:p>
          <a:p xmlns:a="http://schemas.openxmlformats.org/drawingml/2006/main">
            <a:r>
              <a:t>  B --&gt; C[제품·반제품 제조]</a:t>
            </a:r>
          </a:p>
          <a:p xmlns:a="http://schemas.openxmlformats.org/drawingml/2006/main">
            <a:r>
              <a:t>  C --&gt; D[엔진공장 등에 직접 납품]</a:t>
            </a:r>
          </a:p>
          <a:p xmlns:a="http://schemas.openxmlformats.org/drawingml/2006/main">
            <a:r>
              <a:t>  C --&gt; E[1차 머플러 업체 경유]</a:t>
            </a:r>
          </a:p>
          <a:p xmlns:a="http://schemas.openxmlformats.org/drawingml/2006/main">
            <a:r>
              <a:t>  C --&gt; F[당진공장 등에서 후속 조립]</a:t>
            </a:r>
          </a:p>
          <a:p xmlns:a="http://schemas.openxmlformats.org/drawingml/2006/main">
            <a:r>
              <a:t>  E --&gt; G[최종 현대·기아 공장]</a:t>
            </a:r>
          </a:p>
          <a:p xmlns:a="http://schemas.openxmlformats.org/drawingml/2006/main">
            <a:r>
              <a:t>  F --&gt; G</a:t>
            </a:r>
          </a:p>
          <a:p xmlns:a="http://schemas.openxmlformats.org/drawingml/2006/main">
            <a:r>
              <a:t>  C --&gt; H[글로비스 제품 입고]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위 그림은 대표 경로입니다. 품번별 승인 경로와 예외를 사용하며, 모든 제품을 같은 경로로 처리하지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**물건이 도착한 곳과 촉매를 마감하는 곳은 다릅니다.** 예를 들어 세종공업(화성)으로 납품된 제품의 확인 경로는 최종 울산3공장으로 연결되므로 촉매도 해당 세부 공장으로 배분합니다. 우리 ERP에서는 울산1·3·5 등의 상세를 합쳐 ‘현대 울산’으로 관리합니다.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용어 | 이 업무에서의 의미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촉매 입고 | 촉매사에서 우리 회사로 들어온 촉매. ERP 촉매 입고 자료로 대조합니다. |</a:t>
            </a:r>
          </a:p>
          <a:p xmlns:a="http://schemas.openxmlformats.org/drawingml/2006/main">
            <a:r>
              <a:t>| 제품 이동·납품 | 제품이나 반제품이 창고·협력사·공장으로 이동한 기록. 일반 배분의 비율 근거입니다. |</a:t>
            </a:r>
          </a:p>
          <a:p xmlns:a="http://schemas.openxmlformats.org/drawingml/2006/main">
            <a:r>
              <a:t>| 마감 | 이번 달 정산 대상으로 확정한 촉매 수량과 금액입니다. |</a:t>
            </a:r>
          </a:p>
          <a:p xmlns:a="http://schemas.openxmlformats.org/drawingml/2006/main">
            <a:r>
              <a:t>| 미정산·마감이월 | 이번 달 정산하지 못해 남긴 촉매 수량입니다. 품번·귀속·단가·근거를 함께 보관합니다. |</a:t>
            </a:r>
          </a:p>
          <a:p xmlns:a="http://schemas.openxmlformats.org/drawingml/2006/main">
            <a:r>
              <a:t>| 제품 이월 | 전월에 남은 제품 물량입니다. 촉매의 미정산과 다른 수량입니다. |</a:t>
            </a:r>
          </a:p>
          <a:p xmlns:a="http://schemas.openxmlformats.org/drawingml/2006/main">
            <a:r>
              <a:t>| 사급 | 고객 측에서 제공한 자재를 사용해 제품을 만드는 방식입니다. 이 업무의 글로비스 사급 촉매는 제품을 만들었어도 실제 제품 입고 조건을 충족해야 마감할 수 있습니다. |</a:t>
            </a:r>
          </a:p>
          <a:p xmlns:a="http://schemas.openxmlformats.org/drawingml/2006/main">
            <a:r>
              <a:t>| BOM | 제품·반제품 하나에 어떤 촉매가 몇 개 들어가는지 연결하는 구성표입니다. |</a:t>
            </a:r>
          </a:p>
          <a:p xmlns:a="http://schemas.openxmlformats.org/drawingml/2006/main">
            <a:r>
              <a:t>| 마감처 | 촉매를 정산할 귀속처입니다. 직접 납품처·경유처·세부 공장·ERP 통합처를 구분합니다.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D:/Documents/CODEX/촉매마감_rev1/.analysis/Catalyst_Cutoff/docs/process/촉매마감-업무프로세스.md</a:t>
            </a:r>
          </a:p>
          <a:p xmlns:a="http://schemas.openxmlformats.org/drawingml/2006/main">
            <a:r>
              <a:t>작성 기준: 2026-10-13. 다른 프로젝트 촉매마감_rev1의 업무 및 개발 설명.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어떤 자료를 준비하나요?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자료 | 해결하는 질문 | 주기·관리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촉매사 전월 말 적송재고 PDF | 전월 말 촉매사 기준으로 얼마나 남았나요? | 매월 수령. 본문 재고 기준월을 확인합니다. |</a:t>
            </a:r>
          </a:p>
          <a:p xmlns:a="http://schemas.openxmlformats.org/drawingml/2006/main">
            <a:r>
              <a:t>| 희성 당월 출하 원본 | 희성이 이번 달 우리 회사로 얼마나 보냈나요? | 매월 수령. 가공 마감표는 비교용 또는 생성 결과입니다. |</a:t>
            </a:r>
          </a:p>
          <a:p xmlns:a="http://schemas.openxmlformats.org/drawingml/2006/main">
            <a:r>
              <a:t>| 유미코아 Summary·주차 납품 자료 | 납품·이월·공장 구분과 원문 마감은 어떻게 표시됐나요? | 매월 수령. Summary와 주차를 함께 합산하지 않습니다. |</a:t>
            </a:r>
          </a:p>
          <a:p xmlns:a="http://schemas.openxmlformats.org/drawingml/2006/main">
            <a:r>
              <a:t>| ERP 기간별구매거래처입고현황 | 우리 전산의 당월 촉매 입고는 얼마인가요? | 매월 조회. 촉매사 출하와 비교하며 둘을 더하지 않습니다. |</a:t>
            </a:r>
          </a:p>
          <a:p xmlns:a="http://schemas.openxmlformats.org/drawingml/2006/main">
            <a:r>
              <a:t>| 제품·반제품 창고별 수불집계조회 | 어느 경로로 제품이 얼마나 이동했나요? | 필요한 월에 각각 조회. 승인된 집계 지점·항목만 사용합니다. |</a:t>
            </a:r>
          </a:p>
          <a:p xmlns:a="http://schemas.openxmlformats.org/drawingml/2006/main">
            <a:r>
              <a:t>| 글로비스 실제 제품 입고 자료 | 글로비스에서 실제 입고처리한 제품은 무엇인가요? | 해당 거래가 있는 달에 조회. 현재 지정 원본은 `HkmgMmin020` 계열 파일입니다. |</a:t>
            </a:r>
          </a:p>
          <a:p xmlns:a="http://schemas.openxmlformats.org/drawingml/2006/main">
            <a:r>
              <a:t>| BOM·경로·단가 | 어떤 촉매·소요량·마감처·단가를 적용하나요? | 승인된 기준 재사용. 변경 때 새 버전으로 적용합니다. |</a:t>
            </a:r>
          </a:p>
          <a:p xmlns:a="http://schemas.openxmlformats.org/drawingml/2006/main">
            <a:r>
              <a:t>| 전월 확정 명세·미정산 | 우리 전월 장부와 이번 달 해소 대상은 무엇인가요? | 전월 확정본 연결. PDF 이월에 다시 더하지 않습니다. |</a:t>
            </a:r>
          </a:p>
          <a:p xmlns:a="http://schemas.openxmlformats.org/drawingml/2006/main">
            <a:r>
              <a:t>| 소요량·월계획 | 계획과 비교하면 어떠한가요? | 월·계획 버전별 등록. 계획 미제공과 0계획을 구분합니다.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파일명 날짜는 추출일일 수 있습니다. 조회 범위·본문 기준월·수정본을 확인합니다. 파일에서 행이 없다는 사실만으로 거래가 0개라고 판단하지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D:/Documents/CODEX/촉매마감_rev1/.analysis/Catalyst_Cutoff/docs/process/촉매마감-업무프로세스.md</a:t>
            </a:r>
          </a:p>
          <a:p xmlns:a="http://schemas.openxmlformats.org/drawingml/2006/main">
            <a:r>
              <a:t>작성 기준: 2026-10-13. 다른 프로젝트 촉매마감_rev1의 업무 및 개발 설명.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한 달의 업무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TD</a:t>
            </a:r>
          </a:p>
          <a:p xmlns:a="http://schemas.openxmlformats.org/drawingml/2006/main">
            <a:r>
              <a:t>  A[마감월 선택·기준 버전 확인] --&gt; B[원본 자료 등록·기간 확인]</a:t>
            </a:r>
          </a:p>
          <a:p xmlns:a="http://schemas.openxmlformats.org/drawingml/2006/main">
            <a:r>
              <a:t>  B --&gt; C[촉매사 이월·출하와 우리 장부 대조]</a:t>
            </a:r>
          </a:p>
          <a:p xmlns:a="http://schemas.openxmlformats.org/drawingml/2006/main">
            <a:r>
              <a:t>  C --&gt; D{원천 차이의 처리 근거가 있나요?}</a:t>
            </a:r>
          </a:p>
          <a:p xmlns:a="http://schemas.openxmlformats.org/drawingml/2006/main">
            <a:r>
              <a:t>  D -- 아니요 --&gt; E[원본·기간·전표·정정 근거 보완]</a:t>
            </a:r>
          </a:p>
          <a:p xmlns:a="http://schemas.openxmlformats.org/drawingml/2006/main">
            <a:r>
              <a:t>  E --&gt; C</a:t>
            </a:r>
          </a:p>
          <a:p xmlns:a="http://schemas.openxmlformats.org/drawingml/2006/main">
            <a:r>
              <a:t>  D -- 예 --&gt; F[그달 보류·해소와 별도 귀속 구분]</a:t>
            </a:r>
          </a:p>
          <a:p xmlns:a="http://schemas.openxmlformats.org/drawingml/2006/main">
            <a:r>
              <a:t>  F --&gt; G[글로비스 실제 입고·직사급 예외 처리]</a:t>
            </a:r>
          </a:p>
          <a:p xmlns:a="http://schemas.openxmlformats.org/drawingml/2006/main">
            <a:r>
              <a:t>  G --&gt; H[일반 배분 총량과 제품 근거 구성]</a:t>
            </a:r>
          </a:p>
          <a:p xmlns:a="http://schemas.openxmlformats.org/drawingml/2006/main">
            <a:r>
              <a:t>  H --&gt; I[기본 비율 배분·반올림]</a:t>
            </a:r>
          </a:p>
          <a:p xmlns:a="http://schemas.openxmlformats.org/drawingml/2006/main">
            <a:r>
              <a:t>  I --&gt; J[필요한 월별 수정·사유 반영]</a:t>
            </a:r>
          </a:p>
          <a:p xmlns:a="http://schemas.openxmlformats.org/drawingml/2006/main">
            <a:r>
              <a:t>  J --&gt; K[품목·귀속·수량·금액 검산]</a:t>
            </a:r>
          </a:p>
          <a:p xmlns:a="http://schemas.openxmlformats.org/drawingml/2006/main">
            <a:r>
              <a:t>  K --&gt; L{필수 미완료와 불균형이 없나요?}</a:t>
            </a:r>
          </a:p>
          <a:p xmlns:a="http://schemas.openxmlformats.org/drawingml/2006/main">
            <a:r>
              <a:t>  L -- 아니요 --&gt; M[관련 자료·입력 보완 후 재계산]</a:t>
            </a:r>
          </a:p>
          <a:p xmlns:a="http://schemas.openxmlformats.org/drawingml/2006/main">
            <a:r>
              <a:t>  M --&gt; F</a:t>
            </a:r>
          </a:p>
          <a:p xmlns:a="http://schemas.openxmlformats.org/drawingml/2006/main">
            <a:r>
              <a:t>  L -- 예 --&gt; N[담당자가 월 확정]</a:t>
            </a:r>
          </a:p>
          <a:p xmlns:a="http://schemas.openxmlformats.org/drawingml/2006/main">
            <a:r>
              <a:t>  N --&gt; O[동일 확정본으로 엑셀 출력·백업]</a:t>
            </a:r>
          </a:p>
          <a:p xmlns:a="http://schemas.openxmlformats.org/drawingml/2006/main">
            <a:r>
              <a:t>  O --&gt; P[미정산과 근거를 다음 달로 연결]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단계 | 수행할 일 | 완료 결과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① 시작 | 마감월, 전월 확정본, 적용 BOM·경로·단가를 선택합니다. | 이번 달 계산에 사용할 기준이 고정됩니다. |</a:t>
            </a:r>
          </a:p>
          <a:p xmlns:a="http://schemas.openxmlformats.org/drawingml/2006/main">
            <a:r>
              <a:t>| ② 원본 등록 | 자료별 역할·기간·개정을 확인하고 원본을 보관합니다. | 같은 파일·겹치는 수정본을 중복 합산하지 않습니다. |</a:t>
            </a:r>
          </a:p>
          <a:p xmlns:a="http://schemas.openxmlformats.org/drawingml/2006/main">
            <a:r>
              <a:t>| ③ 원천 대조 | 촉매사 이월+납품과 우리 이월+ERP 입고를 각각 비교합니다. | 적용 수량과 차이 처리 근거가 연결됩니다. |</a:t>
            </a:r>
          </a:p>
          <a:p xmlns:a="http://schemas.openxmlformats.org/drawingml/2006/main">
            <a:r>
              <a:t>| ④ 정산 조건 | 전월 보류의 계속·해소, 당월 새 보류와 별도 귀속을 판단합니다. | 마감 가능한 부분과 남겨야 할 부분이 구분됩니다. |</a:t>
            </a:r>
          </a:p>
          <a:p xmlns:a="http://schemas.openxmlformats.org/drawingml/2006/main">
            <a:r>
              <a:t>| ⑤ 글로비스·예외 | 실제 제품 입고에 BOM을 적용하고 촉매별 직사급 예외를 분리합니다. | 고정 귀속분과 미입고 잔여가 연결됩니다. |</a:t>
            </a:r>
          </a:p>
          <a:p xmlns:a="http://schemas.openxmlformats.org/drawingml/2006/main">
            <a:r>
              <a:t>| ⑥ 일반 배분 | 관련 제품의 승인된 수불 수량×BOM 기여를 합산해 촉매 대상군별 비율을 구합니다. | 자동 배분 후보와 분자·분모가 남습니다. |</a:t>
            </a:r>
          </a:p>
          <a:p xmlns:a="http://schemas.openxmlformats.org/drawingml/2006/main">
            <a:r>
              <a:t>| ⑦ 검토·수정 | 필요한 제품 분할·촉매 최종 수량·보류 처리만 입력합니다. | 자동값과 수정값·사유를 별도로 유지합니다. |</a:t>
            </a:r>
          </a:p>
          <a:p xmlns:a="http://schemas.openxmlformats.org/drawingml/2006/main">
            <a:r>
              <a:t>| ⑧ 검산·확정 | 품목별 잔액과 명세·공장·ERP·금액 합계를 확인한 뒤 확정합니다. | 확정 당시 자료·기준·명세·미정산이 함께 저장됩니다. |</a:t>
            </a:r>
          </a:p>
          <a:p xmlns:a="http://schemas.openxmlformats.org/drawingml/2006/main">
            <a:r>
              <a:t>| ⑨ 출력·이월 | 확정본에서 제출·검토 엑셀을 생성하고 다음 달 잔여를 연결합니다. | 출력마다 같은 수량·금액을 사용합니다.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차이가 남아 있어도 다른 품목 검토와 초안 저장은 할 수 있습니다. 해결되지 않은 필수 항목을 숨긴 채 월 전체를 확정하지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D:/Documents/CODEX/촉매마감_rev1/.analysis/Catalyst_Cutoff/docs/process/촉매마감-업무프로세스.md</a:t>
            </a:r>
          </a:p>
          <a:p xmlns:a="http://schemas.openxmlformats.org/drawingml/2006/main">
            <a:r>
              <a:t>작성 기준: 2026-10-13. 다른 프로젝트 촉매마감_rev1의 업무 및 개발 설명.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수량은 어떻게 계산하나요?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5.1 희성의 시작 수량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`희성 적용 전월 말 촉매 이월 + 당월 촉매 출하 = 적용 가용량`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전월 말 PDF에서 이월 기본값을 가져오고 자체 전월 확정 이월과 대조합니다. 인식 정정·업무 조정이 있으면 원본과 다른 항목으로 기록합니다. 수정은 원본에 더하는 수량이 아니라 적용할 이월 수량을 대체하는 값입니다.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유미코아는 기존 공장별 명세와 실제 미마감 판단을 연결합니다. 이미 구분된 명세 전체를 희성 방식으로 다시 배분하지 않으며, 다중 귀속이 필요한 범위만 승인된 공통 비율을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5.2 실제 마감과 미정산을 먼저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`적용 가용량 = 별도로 귀속한 실제 마감 + 일반 마감 + 월말 미정산`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일반 배분 대상은 적용 가용량에서 그달 남길 보류와 글로비스·직사급 등의 별도 확정 귀속분을 분리한 수량입니다. 보류 항목은 서로 중복되지 않게 관리합니다. 전월 보류가 해소되더라도 이미 가용량에 포함된 수량을 다시 입고처럼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글로비스 미입고 물량을 일반 공장으로 넘겨 마감하거나, 이유 없는 차액을 미정산으로 만들지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5.3 일반 마감처는 제품 근거 비율로 배분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`공장별 촉매 기여 = 해당 경로의 제품 수량 × BOM 촉매 소요량`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`공장별 배분 후보 = 일반 배분 대상 촉매 수량 × 해당 공장 기여 / 전체 대상 공장 기여`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촉매가 여러 제품에 들어가면 그 기여를 먼저 합산합니다. 제품마다 촉매 가용량 전체를 반복 배분하지 않습니다. 제품 근거 수량은 일반 배분의 비율이며 실제 마감 수량의 상한이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**설명용 가정 예시:** 가용 촉매 1,000개 중 근거 있는 보류 100개, 글로비스 실제 마감 200개라면 일반 배분 대상은 700개입니다. 일반 A/B 공장의 촉매 기여가 600:400이면 420개·280개로 나눕니다. 실제 마감은 900개, 미정산은 100개입니다. 이 숫자는 실제 9월 자료가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수량은 양수 0.5 올림으로 반올림합니다. 반올림만으로 생긴 차이는 조정 가능한 큰 배분 수량부터 맞추고 기록합니다. 실제 글로비스 입고나 업무상 미정산을 반올림 조정 대상으로 사용하지 않습니다. 분모가 0이거나 근거가 없으면 균등 배분하지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5.4 적용 단가로 금액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`마감 금액 = 확정 촉매 수량 × 승인된 촉매 적용 단가`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ERP 등록 단가와 가단가·예외를 구분합니다. 글로비스 파일의 제품 단가는 촉매 단가가 아닙니다. 원 단위 계산값을 보존하고 출력에서 필요할 때 천원 표시로 변환합니다.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D:/Documents/CODEX/촉매마감_rev1/.analysis/Catalyst_Cutoff/docs/process/촉매마감-업무프로세스.md</a:t>
            </a:r>
          </a:p>
          <a:p xmlns:a="http://schemas.openxmlformats.org/drawingml/2006/main">
            <a:r>
              <a:t>작성 기준: 2026-10-13. 다른 프로젝트 촉매마감_rev1의 업무 및 개발 설명.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수량은 어떻게 계산하나요?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5.1 희성의 시작 수량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`희성 적용 전월 말 촉매 이월 + 당월 촉매 출하 = 적용 가용량`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전월 말 PDF에서 이월 기본값을 가져오고 자체 전월 확정 이월과 대조합니다. 인식 정정·업무 조정이 있으면 원본과 다른 항목으로 기록합니다. 수정은 원본에 더하는 수량이 아니라 적용할 이월 수량을 대체하는 값입니다.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유미코아는 기존 공장별 명세와 실제 미마감 판단을 연결합니다. 이미 구분된 명세 전체를 희성 방식으로 다시 배분하지 않으며, 다중 귀속이 필요한 범위만 승인된 공통 비율을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5.2 실제 마감과 미정산을 먼저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`적용 가용량 = 별도로 귀속한 실제 마감 + 일반 마감 + 월말 미정산`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일반 배분 대상은 적용 가용량에서 그달 남길 보류와 글로비스·직사급 등의 별도 확정 귀속분을 분리한 수량입니다. 보류 항목은 서로 중복되지 않게 관리합니다. 전월 보류가 해소되더라도 이미 가용량에 포함된 수량을 다시 입고처럼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글로비스 미입고 물량을 일반 공장으로 넘겨 마감하거나, 이유 없는 차액을 미정산으로 만들지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5.3 일반 마감처는 제품 근거 비율로 배분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`공장별 촉매 기여 = 해당 경로의 제품 수량 × BOM 촉매 소요량`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`공장별 배분 후보 = 일반 배분 대상 촉매 수량 × 해당 공장 기여 / 전체 대상 공장 기여`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촉매가 여러 제품에 들어가면 그 기여를 먼저 합산합니다. 제품마다 촉매 가용량 전체를 반복 배분하지 않습니다. 제품 근거 수량은 일반 배분의 비율이며 실제 마감 수량의 상한이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**설명용 가정 예시:** 가용 촉매 1,000개 중 근거 있는 보류 100개, 글로비스 실제 마감 200개라면 일반 배분 대상은 700개입니다. 일반 A/B 공장의 촉매 기여가 600:400이면 420개·280개로 나눕니다. 실제 마감은 900개, 미정산은 100개입니다. 이 숫자는 실제 9월 자료가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수량은 양수 0.5 올림으로 반올림합니다. 반올림만으로 생긴 차이는 조정 가능한 큰 배분 수량부터 맞추고 기록합니다. 실제 글로비스 입고나 업무상 미정산을 반올림 조정 대상으로 사용하지 않습니다. 분모가 0이거나 근거가 없으면 균등 배분하지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5.4 적용 단가로 금액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`마감 금액 = 확정 촉매 수량 × 승인된 촉매 적용 단가`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ERP 등록 단가와 가단가·예외를 구분합니다. 글로비스 파일의 제품 단가는 촉매 단가가 아닙니다. 원 단위 계산값을 보존하고 출력에서 필요할 때 천원 표시로 변환합니다.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D:/Documents/CODEX/촉매마감_rev1/.analysis/Catalyst_Cutoff/docs/process/촉매마감-업무프로세스.md</a:t>
            </a:r>
          </a:p>
          <a:p xmlns:a="http://schemas.openxmlformats.org/drawingml/2006/main">
            <a:r>
              <a:t>작성 기준: 2026-10-13. 다른 프로젝트 촉매마감_rev1의 업무 및 개발 설명.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수량은 어떻게 계산하나요?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5.1 희성의 시작 수량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`희성 적용 전월 말 촉매 이월 + 당월 촉매 출하 = 적용 가용량`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전월 말 PDF에서 이월 기본값을 가져오고 자체 전월 확정 이월과 대조합니다. 인식 정정·업무 조정이 있으면 원본과 다른 항목으로 기록합니다. 수정은 원본에 더하는 수량이 아니라 적용할 이월 수량을 대체하는 값입니다.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유미코아는 기존 공장별 명세와 실제 미마감 판단을 연결합니다. 이미 구분된 명세 전체를 희성 방식으로 다시 배분하지 않으며, 다중 귀속이 필요한 범위만 승인된 공통 비율을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5.2 실제 마감과 미정산을 먼저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`적용 가용량 = 별도로 귀속한 실제 마감 + 일반 마감 + 월말 미정산`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일반 배분 대상은 적용 가용량에서 그달 남길 보류와 글로비스·직사급 등의 별도 확정 귀속분을 분리한 수량입니다. 보류 항목은 서로 중복되지 않게 관리합니다. 전월 보류가 해소되더라도 이미 가용량에 포함된 수량을 다시 입고처럼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글로비스 미입고 물량을 일반 공장으로 넘겨 마감하거나, 이유 없는 차액을 미정산으로 만들지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5.3 일반 마감처는 제품 근거 비율로 배분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`공장별 촉매 기여 = 해당 경로의 제품 수량 × BOM 촉매 소요량`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`공장별 배분 후보 = 일반 배분 대상 촉매 수량 × 해당 공장 기여 / 전체 대상 공장 기여`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촉매가 여러 제품에 들어가면 그 기여를 먼저 합산합니다. 제품마다 촉매 가용량 전체를 반복 배분하지 않습니다. 제품 근거 수량은 일반 배분의 비율이며 실제 마감 수량의 상한이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**설명용 가정 예시:** 가용 촉매 1,000개 중 근거 있는 보류 100개, 글로비스 실제 마감 200개라면 일반 배분 대상은 700개입니다. 일반 A/B 공장의 촉매 기여가 600:400이면 420개·280개로 나눕니다. 실제 마감은 900개, 미정산은 100개입니다. 이 숫자는 실제 9월 자료가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수량은 양수 0.5 올림으로 반올림합니다. 반올림만으로 생긴 차이는 조정 가능한 큰 배분 수량부터 맞추고 기록합니다. 실제 글로비스 입고나 업무상 미정산을 반올림 조정 대상으로 사용하지 않습니다. 분모가 0이거나 근거가 없으면 균등 배분하지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5.4 적용 단가로 금액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`마감 금액 = 확정 촉매 수량 × 승인된 촉매 적용 단가`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ERP 등록 단가와 가단가·예외를 구분합니다. 글로비스 파일의 제품 단가는 촉매 단가가 아닙니다. 원 단위 계산값을 보존하고 출력에서 필요할 때 천원 표시로 변환합니다.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D:/Documents/CODEX/촉매마감_rev1/.analysis/Catalyst_Cutoff/docs/process/촉매마감-업무프로세스.md</a:t>
            </a:r>
          </a:p>
          <a:p xmlns:a="http://schemas.openxmlformats.org/drawingml/2006/main">
            <a:r>
              <a:t>작성 기준: 2026-10-13. 다른 프로젝트 촉매마감_rev1의 업무 및 개발 설명.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대표 사례로 오해를 방지합니다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사례 | 처리 | 잘못된 처리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세종공업(화성)의 M28950-2JAV0 | 당월 입고 이동 8,400개를 울산3 배분 근거로 사용합니다. | 전월 제품 이월이 포함된 출고 8,880개나 후속 울산 이동을 다시 합산합니다. |</a:t>
            </a:r>
          </a:p>
          <a:p xmlns:a="http://schemas.openxmlformats.org/drawingml/2006/main">
            <a:r>
              <a:t>| 당진 대상 반제품 | 승인된 H품번의 출고 적송과 확인된 이동 예외를 사용합니다. | 모든 H28950 품번을 화성으로 보냅니다. 모비스 정확 품번 예외도 있습니다. |</a:t>
            </a:r>
          </a:p>
          <a:p xmlns:a="http://schemas.openxmlformats.org/drawingml/2006/main">
            <a:r>
              <a:t>| 세정 M28950-2J540 | 필요한 달에 아산·화성3 제품 분할을 입력해 비율을 구합니다. | 같은 창고 물량을 두 공장에 모두 복사합니다. |</a:t>
            </a:r>
          </a:p>
          <a:p xmlns:a="http://schemas.openxmlformats.org/drawingml/2006/main">
            <a:r>
              <a:t>| 글로비스 | 실제 제품 입고×BOM으로 정산합니다. | 우리 촉매 입고나 제품 제조 완료만으로 마감합니다. |</a:t>
            </a:r>
          </a:p>
          <a:p xmlns:a="http://schemas.openxmlformats.org/drawingml/2006/main">
            <a:r>
              <a:t>| 28991-4C520 | 전주 직사급 예외를 별도로 적용합니다. | 글로비스 제품 입고 100개를 전주 촉매 마감 100개로 자동 복제합니다. |</a:t>
            </a:r>
          </a:p>
          <a:p xmlns:a="http://schemas.openxmlformats.org/drawingml/2006/main">
            <a:r>
              <a:t>| 유미코아 ‘마감’ 표기 | 실제 정산 상태를 확인하고 미마감이면 잔여로 남깁니다. | 원문의 제목만 보고 정산 완료로 처리합니다. |</a:t>
            </a:r>
          </a:p>
          <a:p xmlns:a="http://schemas.openxmlformats.org/drawingml/2006/main">
            <a:r>
              <a:t>| 월말 발주 | 납품·실제 입고와 구분합니다. | 발주 수량을 당월 실제 입고로 만듭니다. |</a:t>
            </a:r>
          </a:p>
          <a:p xmlns:a="http://schemas.openxmlformats.org/drawingml/2006/main">
            <a:r>
              <a:t>| 단산·개발·A/S | 실제 거래와 이월이 있으면 별도로 보존합니다. | 계획이 없다는 이유로 거래를 삭제합니다.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기준은 매월 재작성하지 않습니다. 신규 품번·경로·적용 기준이 바뀌면 해당 부분만 검토합니다. 같은 창고라도 품번과 물류 유형에 따라 집계 위치와 마감처가 다를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D:/Documents/CODEX/촉매마감_rev1/.analysis/Catalyst_Cutoff/docs/process/촉매마감-업무프로세스.md</a:t>
            </a:r>
          </a:p>
          <a:p xmlns:a="http://schemas.openxmlformats.org/drawingml/2006/main">
            <a:r>
              <a:t>작성 기준: 2026-10-13. 다른 프로젝트 촉매마감_rev1의 업무 및 개발 설명.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무엇이 확인되어야 마감을 끝낼 수 있나요?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적용 원본·기간·이월·BOM·귀속·단가의 근거가 있습니다.</a:t>
            </a:r>
          </a:p>
          <a:p xmlns:a="http://schemas.openxmlformats.org/drawingml/2006/main">
            <a:r>
              <a:t>- 원천 차이와 중복·누락 후보의 처리 방법이 정해져 있습니다.</a:t>
            </a:r>
          </a:p>
          <a:p xmlns:a="http://schemas.openxmlformats.org/drawingml/2006/main">
            <a:r>
              <a:t>- 필요한 제품 분할이 입력되었고 월별 수정에는 사유가 있습니다.</a:t>
            </a:r>
          </a:p>
          <a:p xmlns:a="http://schemas.openxmlformats.org/drawingml/2006/main">
            <a:r>
              <a:t>- 자료를 바꾼 뒤 필요한 재계산과 수정 재검토가 끝났습니다.</a:t>
            </a:r>
          </a:p>
          <a:p xmlns:a="http://schemas.openxmlformats.org/drawingml/2006/main">
            <a:r>
              <a:t>- 품번·귀속별 수량 잔액이 맞고 세부 공장 합계와 ERP 통합처 합계가 일치합니다.</a:t>
            </a:r>
          </a:p>
          <a:p xmlns:a="http://schemas.openxmlformats.org/drawingml/2006/main">
            <a:r>
              <a:t>- 수량×단가, 사업장 합계와 종합 합계가 일치합니다.</a:t>
            </a:r>
          </a:p>
          <a:p xmlns:a="http://schemas.openxmlformats.org/drawingml/2006/main">
            <a:r>
              <a:t>- 남은 미정산의 품목·귀속·잔여·근거가 연결되어 있습니다.</a:t>
            </a:r>
          </a:p>
          <a:p xmlns:a="http://schemas.openxmlformats.org/drawingml/2006/main">
            <a:r>
              <a:t>- 확정 명세와 근거가 함께 저장되었습니다.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**미정산이 0개여야 마감 완료인 것은 아닙니다.** 근거 있는 미정산은 그대로 다음 달로 넘깁니다. 계획이 없어도 필요한 실적 마감 조건이 갖춰지면 확정할 수 있으며 계획 대비 분석은 별도로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운영 설계에 기록된 2026년 9월 장부 대조는 `12,021 + 159,943 − 151,090 = 20,874개`입니다. 이 숫자는 과거 결과의 대조 기준이며 모든 제품 배분을 새 프로그램이 자동 재현했다는 뜻은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결과는 무엇이고 누가 무엇을 하나요?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담당 | 역할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자료 제공처 | 촉매사 출하·적송자료, ERP 촉매 입고·제품 수불, 글로비스 실제 입고 등 원본을 제공합니다. |</a:t>
            </a:r>
          </a:p>
          <a:p xmlns:a="http://schemas.openxmlformats.org/drawingml/2006/main">
            <a:r>
              <a:t>| 마감 담당자 | 자료 범위와 필요한 예외를 확인하고 그달 수정·보류·해소 근거를 남긴 뒤 최종 확정합니다. |</a:t>
            </a:r>
          </a:p>
          <a:p xmlns:a="http://schemas.openxmlformats.org/drawingml/2006/main">
            <a:r>
              <a:t>| 프로그램 | 승인된 기준으로 읽기·대조·기본 계산·차이 표시·이력 보관·엑셀 생성을 수행하도록 개발합니다. |</a:t>
            </a:r>
          </a:p>
          <a:p xmlns:a="http://schemas.openxmlformats.org/drawingml/2006/main">
            <a:r>
              <a:t>| 보고서 이용자 | 실제 마감 수량·금액, 미정산, 계획 대비 및 과거 마감 추이를 확인합니다.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하나의 확정 명세에서 희성 공장별 가공표, 현대기아 세부 공장 검토표, ERP 거래처별 명세, 미정산 내역, 종합·누적 보고서를 생성합니다. 현대기아·ERP 검토표는 실제 등록 규격이 확인되기 전까지 자동 업로드 파일로 부르지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초안 자동 저장과 월 확정은 다릅니다. 확정 후 수정은 기존 확정본을 남기고 새 차수로 재확정합니다. 전월 변경이 다음 달 이월에 영향을 주면 알려 주고 검토하며 다음 달 확정값을 자동으로 바꾸지 않습니다. 출력 실패는 저장된 확정을 취소하지 않고 같은 확정본으로 재출력합니다.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D:/Documents/CODEX/촉매마감_rev1/.analysis/Catalyst_Cutoff/docs/process/촉매마감-업무프로세스.md</a:t>
            </a:r>
          </a:p>
          <a:p xmlns:a="http://schemas.openxmlformats.org/drawingml/2006/main">
            <a:r>
              <a:t>작성 기준: 2026-10-13. 다른 프로젝트 촉매마감_rev1의 업무 및 개발 설명.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개발 진행 상태와 근거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현재 구현 | 앞으로 구현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로컬 실행, 월 작업 생성·다시 열기, 메모 자동 저장·변경 이력, 충돌 검사, 종료·복원 | 원본 엑셀/PDF 읽기, BOM·경로·단가·과거 이관, 수량·금액 계산, 예외 검토, 확정·엑셀 출력·백업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다음 개발 단위는 W2 원본 보관·읽기입니다. 다른 PC에서 받은 BOM·추가 입고 자료·적송재고 PDF는 Git에 들어 있지 않으므로 실제 검증에는 별도 이관 자료가 필요합니다. 이 프로세스 작성 때 그 원본 전체를 새로 대조하지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[현재 구현과 실행 안내](../../README.md)</a:t>
            </a:r>
          </a:p>
          <a:p xmlns:a="http://schemas.openxmlformats.org/drawingml/2006/main">
            <a:r>
              <a:t>- [업무 상세 근거: 전체 점검·운영 설계](../reviews/2026-10-12-전체점검-운영설계.md): 특히 15·18·21~23절.</a:t>
            </a:r>
          </a:p>
          <a:p xmlns:a="http://schemas.openxmlformats.org/drawingml/2006/main">
            <a:r>
              <a:t>- [기술 구현 계획](../plans/2026-10-13-1차구현-저장구조와-개발계획.md)</a:t>
            </a:r>
          </a:p>
          <a:p xmlns:a="http://schemas.openxmlformats.org/drawingml/2006/main">
            <a:r>
              <a:t>- [이번 코드·문서 리뷰](../reviews/2026-10-13-코드와-업무설계-리뷰.md)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문서와 과거 그래프가 다르면 최신 사용자 판단과 해당 원문 근거를 우선합니다. 이 안내 문서는 새로운 미확인 업무 규칙을 승인한 문서가 아닙니다.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86594c20742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9fc633b0445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82c2254d040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66643c91245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4dc6b631c45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72dfe333643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6C1C59-E35E-400E-B879-29D510E750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F575F5-7DE2-421A-83E0-B2F81C2D2C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3FA622-8012-42DD-8F6E-97EEF2556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837F54-F0A6-4C8B-B1A6-CC4270961A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D4F7FB-DBF6-4916-A7A3-0EF4833EFF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AEE035-B9EB-4C9A-8952-A16D9936F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9F31E5-0869-41BA-B385-9CF2A87F00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B566B5-9311-4EFC-B5DA-6101E9E072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7B7E71-5418-418F-B161-FC1A4EA11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E0019B-97F0-45F9-B1AF-BC08C19BAC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32195889af4b12" /><Relationship Type="http://schemas.openxmlformats.org/officeDocument/2006/relationships/slideLayout" Target="/ppt/slideLayouts/slideLayout1.xml" Id="R5729de26428e4f2c" /><Relationship Type="http://schemas.openxmlformats.org/officeDocument/2006/relationships/slideLayout" Target="/ppt/slideLayouts/slideLayout2.xml" Id="R32cb6c62c75f4199" /><Relationship Type="http://schemas.openxmlformats.org/officeDocument/2006/relationships/slideLayout" Target="/ppt/slideLayouts/slideLayout3.xml" Id="R25ebf0dcd0fd4073" /><Relationship Type="http://schemas.openxmlformats.org/officeDocument/2006/relationships/slideLayout" Target="/ppt/slideLayouts/slideLayout4.xml" Id="Rb2a9bab6c7254dd9" /><Relationship Type="http://schemas.openxmlformats.org/officeDocument/2006/relationships/slideLayout" Target="/ppt/slideLayouts/slideLayout5.xml" Id="R8ed835475ca04d19" /><Relationship Type="http://schemas.openxmlformats.org/officeDocument/2006/relationships/slideLayout" Target="/ppt/slideLayouts/slideLayout6.xml" Id="R25a22fce6ce540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29de26428e4f2c"/>
    <p:sldLayoutId xmlns:r="http://schemas.openxmlformats.org/officeDocument/2006/relationships" id="2147483650" r:id="R32cb6c62c75f4199"/>
    <p:sldLayoutId xmlns:r="http://schemas.openxmlformats.org/officeDocument/2006/relationships" id="2147483651" r:id="R25ebf0dcd0fd4073"/>
    <p:sldLayoutId xmlns:r="http://schemas.openxmlformats.org/officeDocument/2006/relationships" id="2147483652" r:id="Rb2a9bab6c7254dd9"/>
    <p:sldLayoutId xmlns:r="http://schemas.openxmlformats.org/officeDocument/2006/relationships" id="2147483653" r:id="R8ed835475ca04d19"/>
    <p:sldLayoutId xmlns:r="http://schemas.openxmlformats.org/officeDocument/2006/relationships" id="2147483654" r:id="R25a22fce6ce540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95b1c18a8e4418" /><Relationship Type="http://schemas.openxmlformats.org/officeDocument/2006/relationships/notesSlide" Target="/ppt/notesSlides/notesSlide1.xml" Id="Ra7d9efc21e294e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b65a5d0cec47ab" /><Relationship Type="http://schemas.openxmlformats.org/officeDocument/2006/relationships/notesSlide" Target="/ppt/notesSlides/notesSlide2.xml" Id="Rfca02b968c9448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538f297464199" /><Relationship Type="http://schemas.openxmlformats.org/officeDocument/2006/relationships/notesSlide" Target="/ppt/notesSlides/notesSlide3.xml" Id="Rbce18a07aa5347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45ced3a5547f3" /><Relationship Type="http://schemas.openxmlformats.org/officeDocument/2006/relationships/notesSlide" Target="/ppt/notesSlides/notesSlide4.xml" Id="R5424b71ac68841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db4fe641214445" /><Relationship Type="http://schemas.openxmlformats.org/officeDocument/2006/relationships/notesSlide" Target="/ppt/notesSlides/notesSlide5.xml" Id="Ree1814622b0f48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528285d2284cca" /><Relationship Type="http://schemas.openxmlformats.org/officeDocument/2006/relationships/notesSlide" Target="/ppt/notesSlides/notesSlide6.xml" Id="R7c4a67943d8f4a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2808009d734085" /><Relationship Type="http://schemas.openxmlformats.org/officeDocument/2006/relationships/notesSlide" Target="/ppt/notesSlides/notesSlide7.xml" Id="R2e952ea48d5444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faf309bc74537" /><Relationship Type="http://schemas.openxmlformats.org/officeDocument/2006/relationships/notesSlide" Target="/ppt/notesSlides/notesSlide8.xml" Id="Ra9365fb8696d40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a5c09e79ba4567" /><Relationship Type="http://schemas.openxmlformats.org/officeDocument/2006/relationships/notesSlide" Target="/ppt/notesSlides/notesSlide9.xml" Id="R28c6cf866ba04b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3b5d6f7d949c3" /><Relationship Type="http://schemas.openxmlformats.org/officeDocument/2006/relationships/notesSlide" Target="/ppt/notesSlides/notesSlide10.xml" Id="R8a25cae37cb743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88AC0722-B6E1-4385-B115-EF8FE3E2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촉매 마감 업무 프로세스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9ADDDF6-AB34-4281-8CDD-046A5CDF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96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 / 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E7FC271-CD8F-4D9E-A190-BEB3CA6D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다른 프로젝트 진행 설명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4F32563-0875-4D98-A5AD-2D7C486D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57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이번 달 정산할 수량·금액·마감처를 확정하고</a:t>
            </a:r>
          </a:p>
          <a:p xmlns:a="http://schemas.openxmlformats.org/drawingml/2006/main">
            <a:pPr algn="l">
              <a:defRPr sz="27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남은 촉매를 다음 달로 연결합니다.</a:t>
            </a:r>
          </a:p>
        </p:txBody>
      </p:sp>
      <p:sp>
        <p:nvSpPr>
          <p:cNvPr id="5" name="process-4">
            <a:extLst xmlns:a="http://schemas.openxmlformats.org/drawingml/2006/main">
              <a:ext uri="{FF2B5EF4-FFF2-40B4-BE49-F238E27FC236}">
                <a16:creationId xmlns:a16="http://schemas.microsoft.com/office/drawing/2014/main" id="{AF33591B-5D75-456A-9256-366A5066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8765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당월 가용 촉매</a:t>
            </a:r>
          </a:p>
        </p:txBody>
      </p:sp>
      <p:sp>
        <p:nvSpPr>
          <p:cNvPr id="6" name="process-5">
            <a:extLst xmlns:a="http://schemas.openxmlformats.org/drawingml/2006/main">
              <a:ext uri="{FF2B5EF4-FFF2-40B4-BE49-F238E27FC236}">
                <a16:creationId xmlns:a16="http://schemas.microsoft.com/office/drawing/2014/main" id="{17C50EA7-13EF-403B-B3EC-6EC3E692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43350"/>
            <a:ext cx="27622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실제 마감</a:t>
            </a:r>
          </a:p>
        </p:txBody>
      </p:sp>
      <p:sp>
        <p:nvSpPr>
          <p:cNvPr id="7" name="process-6">
            <a:extLst xmlns:a="http://schemas.openxmlformats.org/drawingml/2006/main">
              <a:ext uri="{FF2B5EF4-FFF2-40B4-BE49-F238E27FC236}">
                <a16:creationId xmlns:a16="http://schemas.microsoft.com/office/drawing/2014/main" id="{9A9C9ED4-0471-4C48-AFF9-F9D99678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943350"/>
            <a:ext cx="28575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FFF3D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월말 미정산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8B1A44E-1202-47BD-A137-418C99A2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24325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=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4EE478D-19D9-46AD-8A1A-994E9856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24325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D94B26B-9157-4257-9243-C5879CF2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촉매마감_rev1  /  업무 인수인계·개발 이해용  /  2026-10-13 기준</a:t>
            </a:r>
          </a:p>
        </p:txBody>
      </p:sp>
    </p:spTree>
    <p:extLst>
      <p:ext uri="{BB962C8B-B14F-4D97-AF65-F5344CB8AC3E}">
        <p14:creationId xmlns:p14="http://schemas.microsoft.com/office/powerpoint/2010/main" val="1839300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EDEEA-5956-4C23-89A9-1D82B90C1D5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8763000" y="2928938"/>
            <a:ext cx="704850" cy="1762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9F9DC-6C24-4037-BDDB-35B3CBE4049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1790700"/>
            <a:ext cx="704850" cy="11382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CDA66-C25E-4659-920E-7479F091068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3095625"/>
            <a:ext cx="809625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54D31-FD49-438B-B28B-37D0AC4ED2E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10250" y="3095625"/>
            <a:ext cx="8096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07992-3762-4825-A7C5-B08867935D3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810250" y="1790700"/>
            <a:ext cx="809625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7760B-0D3F-4F43-A4CB-023139017E2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657475" y="30956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sp>
        <p:nvSpPr>
          <p:cNvPr id="17" name="text-10">
            <a:extLst xmlns:a="http://schemas.openxmlformats.org/drawingml/2006/main">
              <a:ext uri="{FF2B5EF4-FFF2-40B4-BE49-F238E27FC236}">
                <a16:creationId xmlns:a16="http://schemas.microsoft.com/office/drawing/2014/main" id="{63AF2C14-13FF-4B0D-ACDE-81E06AC1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촉매와 제품의 실물 이동</a:t>
            </a:r>
          </a:p>
        </p:txBody>
      </p:sp>
      <p:sp>
        <p:nvSpPr>
          <p:cNvPr id="2" name="text-11">
            <a:extLst xmlns:a="http://schemas.openxmlformats.org/drawingml/2006/main">
              <a:ext uri="{FF2B5EF4-FFF2-40B4-BE49-F238E27FC236}">
                <a16:creationId xmlns:a16="http://schemas.microsoft.com/office/drawing/2014/main" id="{3419ACBC-E5EB-4DC2-A3FB-04715DC2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96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 / 10</a:t>
            </a:r>
          </a:p>
        </p:txBody>
      </p:sp>
      <p:sp>
        <p:nvSpPr>
          <p:cNvPr id="3" name="process-12">
            <a:extLst xmlns:a="http://schemas.openxmlformats.org/drawingml/2006/main">
              <a:ext uri="{FF2B5EF4-FFF2-40B4-BE49-F238E27FC236}">
                <a16:creationId xmlns:a16="http://schemas.microsoft.com/office/drawing/2014/main" id="{FA1AA5EC-E58E-4C5B-980A-470A5099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047875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희성촉매</a:t>
            </a:r>
          </a:p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유미코아</a:t>
            </a:r>
          </a:p>
        </p:txBody>
      </p:sp>
      <p:sp>
        <p:nvSpPr>
          <p:cNvPr id="4" name="process-13">
            <a:extLst xmlns:a="http://schemas.openxmlformats.org/drawingml/2006/main">
              <a:ext uri="{FF2B5EF4-FFF2-40B4-BE49-F238E27FC236}">
                <a16:creationId xmlns:a16="http://schemas.microsoft.com/office/drawing/2014/main" id="{1D57CA5D-C824-441C-A321-D9F27CA4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24125"/>
            <a:ext cx="2524125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우신공업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촉매 입고·제조</a:t>
            </a:r>
          </a:p>
        </p:txBody>
      </p:sp>
      <p:sp>
        <p:nvSpPr>
          <p:cNvPr id="5" name="process-14">
            <a:extLst xmlns:a="http://schemas.openxmlformats.org/drawingml/2006/main">
              <a:ext uri="{FF2B5EF4-FFF2-40B4-BE49-F238E27FC236}">
                <a16:creationId xmlns:a16="http://schemas.microsoft.com/office/drawing/2014/main" id="{718BDDCC-0A64-4626-B730-DA861165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38275"/>
            <a:ext cx="214312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직접 납품</a:t>
            </a:r>
          </a:p>
        </p:txBody>
      </p:sp>
      <p:sp>
        <p:nvSpPr>
          <p:cNvPr id="6" name="process-15">
            <a:extLst xmlns:a="http://schemas.openxmlformats.org/drawingml/2006/main">
              <a:ext uri="{FF2B5EF4-FFF2-40B4-BE49-F238E27FC236}">
                <a16:creationId xmlns:a16="http://schemas.microsoft.com/office/drawing/2014/main" id="{1B2B13B5-DB4D-40CE-BCE3-8461D700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00325"/>
            <a:ext cx="2143125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협력사·당진</a:t>
            </a:r>
          </a:p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후속 조립</a:t>
            </a:r>
          </a:p>
        </p:txBody>
      </p:sp>
      <p:sp>
        <p:nvSpPr>
          <p:cNvPr id="7" name="process-16">
            <a:extLst xmlns:a="http://schemas.openxmlformats.org/drawingml/2006/main">
              <a:ext uri="{FF2B5EF4-FFF2-40B4-BE49-F238E27FC236}">
                <a16:creationId xmlns:a16="http://schemas.microsoft.com/office/drawing/2014/main" id="{495A8F9B-C3D8-4113-A625-4BFEA461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67175"/>
            <a:ext cx="2143125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FFF3D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글로비스</a:t>
            </a:r>
          </a:p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제품 입고</a:t>
            </a:r>
          </a:p>
        </p:txBody>
      </p:sp>
      <p:sp>
        <p:nvSpPr>
          <p:cNvPr id="8" name="process-17">
            <a:extLst xmlns:a="http://schemas.openxmlformats.org/drawingml/2006/main">
              <a:ext uri="{FF2B5EF4-FFF2-40B4-BE49-F238E27FC236}">
                <a16:creationId xmlns:a16="http://schemas.microsoft.com/office/drawing/2014/main" id="{FB0E1AB7-F1AC-4239-98C9-A2DB4726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81225"/>
            <a:ext cx="209550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3065B4"/>
          </a:solidFill>
          <a:ln xmlns:a="http://schemas.openxmlformats.org/drawingml/2006/main" w="9525">
            <a:solidFill>
              <a:srgbClr val="3065B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최종 공장</a:t>
            </a:r>
          </a:p>
        </p:txBody>
      </p:sp>
      <p:sp>
        <p:nvSpPr>
          <p:cNvPr id="15" name="text-18">
            <a:extLst xmlns:a="http://schemas.openxmlformats.org/drawingml/2006/main">
              <a:ext uri="{FF2B5EF4-FFF2-40B4-BE49-F238E27FC236}">
                <a16:creationId xmlns:a16="http://schemas.microsoft.com/office/drawing/2014/main" id="{40D52E0D-C73C-4E28-B890-BD1F63AD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4337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AD6C1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D6C1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AD6C17"/>
                </a:solidFill>
                <a:latin typeface="Malgun Gothic"/>
                <a:ea typeface="Malgun Gothic"/>
                <a:cs typeface="Malgun Gothic"/>
              </a:rPr>
              <a:t>실제 입고가</a:t>
            </a:r>
          </a:p>
          <a:p xmlns:a="http://schemas.openxmlformats.org/drawingml/2006/main">
            <a:pPr algn="ctr">
              <a:defRPr sz="1800" b="1">
                <a:solidFill>
                  <a:srgbClr val="AD6C1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AD6C17"/>
                </a:solidFill>
                <a:latin typeface="Malgun Gothic"/>
                <a:ea typeface="Malgun Gothic"/>
                <a:cs typeface="Malgun Gothic"/>
              </a:rPr>
              <a:t>정산의 조건</a:t>
            </a:r>
          </a:p>
        </p:txBody>
      </p:sp>
      <p:sp>
        <p:nvSpPr>
          <p:cNvPr id="16" name="text-19">
            <a:extLst xmlns:a="http://schemas.openxmlformats.org/drawingml/2006/main">
              <a:ext uri="{FF2B5EF4-FFF2-40B4-BE49-F238E27FC236}">
                <a16:creationId xmlns:a16="http://schemas.microsoft.com/office/drawing/2014/main" id="{2EDC8DE9-426C-4152-866F-3B8D85E2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납품처와 촉매 마감처를 구분합니다. 세부 공장 귀속은 승인된 품번별 경로를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261663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0">
            <a:extLst xmlns:a="http://schemas.openxmlformats.org/drawingml/2006/main">
              <a:ext uri="{FF2B5EF4-FFF2-40B4-BE49-F238E27FC236}">
                <a16:creationId xmlns:a16="http://schemas.microsoft.com/office/drawing/2014/main" id="{FB823BF5-85AA-420D-8249-C21BED93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마감에 사용하는 원본과 기준</a:t>
            </a:r>
          </a:p>
        </p:txBody>
      </p:sp>
      <p:sp>
        <p:nvSpPr>
          <p:cNvPr id="2" name="text-21">
            <a:extLst xmlns:a="http://schemas.openxmlformats.org/drawingml/2006/main">
              <a:ext uri="{FF2B5EF4-FFF2-40B4-BE49-F238E27FC236}">
                <a16:creationId xmlns:a16="http://schemas.microsoft.com/office/drawing/2014/main" id="{2F865A44-555A-4390-B573-DC765FFA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96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3 / 10</a:t>
            </a:r>
          </a:p>
        </p:txBody>
      </p:sp>
      <p:sp>
        <p:nvSpPr>
          <p:cNvPr id="3" name="text-22">
            <a:extLst xmlns:a="http://schemas.openxmlformats.org/drawingml/2006/main">
              <a:ext uri="{FF2B5EF4-FFF2-40B4-BE49-F238E27FC236}">
                <a16:creationId xmlns:a16="http://schemas.microsoft.com/office/drawing/2014/main" id="{6D6FDBD6-2424-4677-A2F8-7A720456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80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촉매 수량</a:t>
            </a:r>
          </a:p>
        </p:txBody>
      </p:sp>
      <p:sp>
        <p:nvSpPr>
          <p:cNvPr id="4" name="text-23">
            <a:extLst xmlns:a="http://schemas.openxmlformats.org/drawingml/2006/main">
              <a:ext uri="{FF2B5EF4-FFF2-40B4-BE49-F238E27FC236}">
                <a16:creationId xmlns:a16="http://schemas.microsoft.com/office/drawing/2014/main" id="{0978ACDE-7F0A-4056-870F-3CF40C85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81150"/>
            <a:ext cx="857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전월 적송재고 PDF, 당월 촉매사 출하</a:t>
            </a:r>
          </a:p>
        </p:txBody>
      </p:sp>
      <p:sp>
        <p:nvSpPr>
          <p:cNvPr id="5" name="text-24">
            <a:extLst xmlns:a="http://schemas.openxmlformats.org/drawingml/2006/main">
              <a:ext uri="{FF2B5EF4-FFF2-40B4-BE49-F238E27FC236}">
                <a16:creationId xmlns:a16="http://schemas.microsoft.com/office/drawing/2014/main" id="{578B2B2C-A941-4D99-B169-86713BF4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97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ERP 촉매 입고와 대조</a:t>
            </a:r>
          </a:p>
        </p:txBody>
      </p:sp>
      <p:sp>
        <p:nvSpPr>
          <p:cNvPr id="6" name="text-25">
            <a:extLst xmlns:a="http://schemas.openxmlformats.org/drawingml/2006/main">
              <a:ext uri="{FF2B5EF4-FFF2-40B4-BE49-F238E27FC236}">
                <a16:creationId xmlns:a16="http://schemas.microsoft.com/office/drawing/2014/main" id="{961128B1-BE1F-4EA4-B713-814E5608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80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제품 근거</a:t>
            </a:r>
          </a:p>
        </p:txBody>
      </p:sp>
      <p:sp>
        <p:nvSpPr>
          <p:cNvPr id="7" name="text-26">
            <a:extLst xmlns:a="http://schemas.openxmlformats.org/drawingml/2006/main">
              <a:ext uri="{FF2B5EF4-FFF2-40B4-BE49-F238E27FC236}">
                <a16:creationId xmlns:a16="http://schemas.microsoft.com/office/drawing/2014/main" id="{42275DF5-50B7-4ECF-ABA4-FC0679B3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14600"/>
            <a:ext cx="857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제품·반제품 수불, 글로비스 실제 입고</a:t>
            </a:r>
          </a:p>
        </p:txBody>
      </p:sp>
      <p:sp>
        <p:nvSpPr>
          <p:cNvPr id="8" name="text-27">
            <a:extLst xmlns:a="http://schemas.openxmlformats.org/drawingml/2006/main">
              <a:ext uri="{FF2B5EF4-FFF2-40B4-BE49-F238E27FC236}">
                <a16:creationId xmlns:a16="http://schemas.microsoft.com/office/drawing/2014/main" id="{4D02B5D0-4ACF-4533-9274-19E63498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432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일반 배분 비율과 별도 귀속 계산</a:t>
            </a:r>
          </a:p>
        </p:txBody>
      </p:sp>
      <p:sp>
        <p:nvSpPr>
          <p:cNvPr id="9" name="text-28">
            <a:extLst xmlns:a="http://schemas.openxmlformats.org/drawingml/2006/main">
              <a:ext uri="{FF2B5EF4-FFF2-40B4-BE49-F238E27FC236}">
                <a16:creationId xmlns:a16="http://schemas.microsoft.com/office/drawing/2014/main" id="{CAD9B472-7C2A-49FF-9B83-908C2D0B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80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적용 기준</a:t>
            </a:r>
          </a:p>
        </p:txBody>
      </p:sp>
      <p:sp>
        <p:nvSpPr>
          <p:cNvPr id="10" name="text-29">
            <a:extLst xmlns:a="http://schemas.openxmlformats.org/drawingml/2006/main">
              <a:ext uri="{FF2B5EF4-FFF2-40B4-BE49-F238E27FC236}">
                <a16:creationId xmlns:a16="http://schemas.microsoft.com/office/drawing/2014/main" id="{A6D113A4-37BE-4A53-B615-5A11CB35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48050"/>
            <a:ext cx="857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BOM, 승인 경로, 촉매 단가</a:t>
            </a:r>
          </a:p>
        </p:txBody>
      </p:sp>
      <p:sp>
        <p:nvSpPr>
          <p:cNvPr id="11" name="text-30">
            <a:extLst xmlns:a="http://schemas.openxmlformats.org/drawingml/2006/main">
              <a:ext uri="{FF2B5EF4-FFF2-40B4-BE49-F238E27FC236}">
                <a16:creationId xmlns:a16="http://schemas.microsoft.com/office/drawing/2014/main" id="{9A891903-B90B-483F-8F60-E365D8E2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766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소요량·마감처·금액 결정</a:t>
            </a:r>
          </a:p>
        </p:txBody>
      </p:sp>
      <p:sp>
        <p:nvSpPr>
          <p:cNvPr id="12" name="text-31">
            <a:extLst xmlns:a="http://schemas.openxmlformats.org/drawingml/2006/main">
              <a:ext uri="{FF2B5EF4-FFF2-40B4-BE49-F238E27FC236}">
                <a16:creationId xmlns:a16="http://schemas.microsoft.com/office/drawing/2014/main" id="{B9C6219A-2FDC-42EF-9949-51FE62E2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80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월 연결</a:t>
            </a:r>
          </a:p>
        </p:txBody>
      </p:sp>
      <p:sp>
        <p:nvSpPr>
          <p:cNvPr id="13" name="text-32">
            <a:extLst xmlns:a="http://schemas.openxmlformats.org/drawingml/2006/main">
              <a:ext uri="{FF2B5EF4-FFF2-40B4-BE49-F238E27FC236}">
                <a16:creationId xmlns:a16="http://schemas.microsoft.com/office/drawing/2014/main" id="{EB854CD3-E10E-4AF5-9FAE-A67AB6E0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81500"/>
            <a:ext cx="857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전월 확정·미정산, 소요량·월계획</a:t>
            </a:r>
          </a:p>
        </p:txBody>
      </p: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A42E3319-0F00-403F-93CA-165BE53C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01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이월 해소와 계획 대비 검토</a:t>
            </a: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03F308B3-D3FA-4493-BC14-D533875F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본문 기간·기준월·개정을 확인합니다. 출하와 ERP 입고, Summary와 주차 자료를 중복 합산하지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16038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BF056-64C5-41C0-86CA-A77D906422B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10475" y="48958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AF726-CDD2-4A02-9D38-AA160114E4B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57600" y="48958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4F737-264A-406C-9150-710CE838B49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133600" y="395287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459DA-00F2-4FB3-B561-66920C279F11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657600" y="34671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0C6EE-400F-4B55-939F-32F3314990F4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610475" y="34671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7CFB4-1AA7-4EC8-B81E-C7B1910AE32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039350" y="252412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53C32-00B5-4604-91D5-1869677410A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10475" y="20383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ED21C-6D4B-4525-8B1A-CDB576CE1CE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657600" y="20383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sp>
        <p:nvSpPr>
          <p:cNvPr id="21" name="text-35">
            <a:extLst xmlns:a="http://schemas.openxmlformats.org/drawingml/2006/main">
              <a:ext uri="{FF2B5EF4-FFF2-40B4-BE49-F238E27FC236}">
                <a16:creationId xmlns:a16="http://schemas.microsoft.com/office/drawing/2014/main" id="{FEE99392-B4CF-46ED-98DB-2510D32D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월 마감의 전체 순서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BBDE0F3F-B6CF-4243-8C90-EEE3FCE2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96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4 / 10</a:t>
            </a:r>
          </a:p>
        </p:txBody>
      </p:sp>
      <p:sp>
        <p:nvSpPr>
          <p:cNvPr id="3" name="process-37">
            <a:extLst xmlns:a="http://schemas.openxmlformats.org/drawingml/2006/main">
              <a:ext uri="{FF2B5EF4-FFF2-40B4-BE49-F238E27FC236}">
                <a16:creationId xmlns:a16="http://schemas.microsoft.com/office/drawing/2014/main" id="{61999C3E-7983-400A-8651-266E5049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30480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1  월·기준 선택</a:t>
            </a:r>
          </a:p>
        </p:txBody>
      </p:sp>
      <p:sp>
        <p:nvSpPr>
          <p:cNvPr id="4" name="process-38">
            <a:extLst xmlns:a="http://schemas.openxmlformats.org/drawingml/2006/main">
              <a:ext uri="{FF2B5EF4-FFF2-40B4-BE49-F238E27FC236}">
                <a16:creationId xmlns:a16="http://schemas.microsoft.com/office/drawing/2014/main" id="{363F97BC-0106-4FBA-A0DB-AEDD47BB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552575"/>
            <a:ext cx="30480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2  원본·기간 확인</a:t>
            </a:r>
          </a:p>
        </p:txBody>
      </p:sp>
      <p:sp>
        <p:nvSpPr>
          <p:cNvPr id="5" name="process-39">
            <a:extLst xmlns:a="http://schemas.openxmlformats.org/drawingml/2006/main">
              <a:ext uri="{FF2B5EF4-FFF2-40B4-BE49-F238E27FC236}">
                <a16:creationId xmlns:a16="http://schemas.microsoft.com/office/drawing/2014/main" id="{C7B02FE1-08BD-460B-9993-1E77A89B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52575"/>
            <a:ext cx="30480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3  원천 수량 대조</a:t>
            </a:r>
          </a:p>
        </p:txBody>
      </p:sp>
      <p:sp>
        <p:nvSpPr>
          <p:cNvPr id="6" name="process-40">
            <a:extLst xmlns:a="http://schemas.openxmlformats.org/drawingml/2006/main">
              <a:ext uri="{FF2B5EF4-FFF2-40B4-BE49-F238E27FC236}">
                <a16:creationId xmlns:a16="http://schemas.microsoft.com/office/drawing/2014/main" id="{20E08286-F84C-4626-999F-1A703C3B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81325"/>
            <a:ext cx="30480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4  보류·해소 구분</a:t>
            </a:r>
          </a:p>
        </p:txBody>
      </p:sp>
      <p:sp>
        <p:nvSpPr>
          <p:cNvPr id="7" name="process-41">
            <a:extLst xmlns:a="http://schemas.openxmlformats.org/drawingml/2006/main">
              <a:ext uri="{FF2B5EF4-FFF2-40B4-BE49-F238E27FC236}">
                <a16:creationId xmlns:a16="http://schemas.microsoft.com/office/drawing/2014/main" id="{1D449395-F0FB-43FC-AE8F-75DFA080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5  글로비스·예외</a:t>
            </a:r>
          </a:p>
        </p:txBody>
      </p:sp>
      <p:sp>
        <p:nvSpPr>
          <p:cNvPr id="8" name="process-42">
            <a:extLst xmlns:a="http://schemas.openxmlformats.org/drawingml/2006/main">
              <a:ext uri="{FF2B5EF4-FFF2-40B4-BE49-F238E27FC236}">
                <a16:creationId xmlns:a16="http://schemas.microsoft.com/office/drawing/2014/main" id="{2AF101A7-756F-4BB5-83C7-04B706FA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0480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6  일반 비율 배분</a:t>
            </a:r>
          </a:p>
        </p:txBody>
      </p:sp>
      <p:sp>
        <p:nvSpPr>
          <p:cNvPr id="9" name="process-43">
            <a:extLst xmlns:a="http://schemas.openxmlformats.org/drawingml/2006/main">
              <a:ext uri="{FF2B5EF4-FFF2-40B4-BE49-F238E27FC236}">
                <a16:creationId xmlns:a16="http://schemas.microsoft.com/office/drawing/2014/main" id="{BB51F970-5738-4BE1-91A1-4F6D88D2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30480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7  수정·사유 검토</a:t>
            </a:r>
          </a:p>
        </p:txBody>
      </p:sp>
      <p:sp>
        <p:nvSpPr>
          <p:cNvPr id="10" name="process-44">
            <a:extLst xmlns:a="http://schemas.openxmlformats.org/drawingml/2006/main">
              <a:ext uri="{FF2B5EF4-FFF2-40B4-BE49-F238E27FC236}">
                <a16:creationId xmlns:a16="http://schemas.microsoft.com/office/drawing/2014/main" id="{2CE64745-F96A-4A55-A6D0-95D6E23C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10075"/>
            <a:ext cx="30480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  검산·월 확정</a:t>
            </a:r>
          </a:p>
        </p:txBody>
      </p:sp>
      <p:sp>
        <p:nvSpPr>
          <p:cNvPr id="11" name="process-45">
            <a:extLst xmlns:a="http://schemas.openxmlformats.org/drawingml/2006/main">
              <a:ext uri="{FF2B5EF4-FFF2-40B4-BE49-F238E27FC236}">
                <a16:creationId xmlns:a16="http://schemas.microsoft.com/office/drawing/2014/main" id="{8A682637-CA5D-4112-B93E-E85C6B2B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10075"/>
            <a:ext cx="30480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9  출력·다음 달 이월</a:t>
            </a:r>
          </a:p>
        </p:txBody>
      </p:sp>
      <p:sp>
        <p:nvSpPr>
          <p:cNvPr id="20" name="text-46">
            <a:extLst xmlns:a="http://schemas.openxmlformats.org/drawingml/2006/main">
              <a:ext uri="{FF2B5EF4-FFF2-40B4-BE49-F238E27FC236}">
                <a16:creationId xmlns:a16="http://schemas.microsoft.com/office/drawing/2014/main" id="{33EA28A8-24CE-4980-8F66-00FC5DA3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차이가 남은 품목은 근거를 보완합니다. 필수 미완료를 해결한 뒤 담당자가 월 전체를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2638569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B3FCD-097D-4E91-AF74-C3653DF94CD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96325" y="2919413"/>
            <a:ext cx="847725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38D79-2A6E-4E9C-8100-8EF443A719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8696325" y="1995488"/>
            <a:ext cx="847725" cy="923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4BF90-E97F-4E77-9341-93F045C82EC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4781550" y="2919413"/>
            <a:ext cx="1019175" cy="8524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4FBDA-8C8F-42C8-953D-BC1518C3E3A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781550" y="2133600"/>
            <a:ext cx="1019175" cy="7858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sp>
        <p:nvSpPr>
          <p:cNvPr id="13" name="text-47">
            <a:extLst xmlns:a="http://schemas.openxmlformats.org/drawingml/2006/main">
              <a:ext uri="{FF2B5EF4-FFF2-40B4-BE49-F238E27FC236}">
                <a16:creationId xmlns:a16="http://schemas.microsoft.com/office/drawing/2014/main" id="{AD410312-2540-4F72-80ED-38A8442D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원천 수량 대조와 차이 처리</a:t>
            </a:r>
          </a:p>
        </p:txBody>
      </p:sp>
      <p:sp>
        <p:nvSpPr>
          <p:cNvPr id="2" name="text-48">
            <a:extLst xmlns:a="http://schemas.openxmlformats.org/drawingml/2006/main">
              <a:ext uri="{FF2B5EF4-FFF2-40B4-BE49-F238E27FC236}">
                <a16:creationId xmlns:a16="http://schemas.microsoft.com/office/drawing/2014/main" id="{69F1D982-8232-44A7-921D-0C1C9F57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96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5 / 10</a:t>
            </a:r>
          </a:p>
        </p:txBody>
      </p:sp>
      <p:sp>
        <p:nvSpPr>
          <p:cNvPr id="3" name="process-49">
            <a:extLst xmlns:a="http://schemas.openxmlformats.org/drawingml/2006/main">
              <a:ext uri="{FF2B5EF4-FFF2-40B4-BE49-F238E27FC236}">
                <a16:creationId xmlns:a16="http://schemas.microsoft.com/office/drawing/2014/main" id="{907FC9AF-6E47-4C57-A1DA-3867F602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17195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촉매사 기준</a:t>
            </a:r>
          </a:p>
          <a:p xmlns:a="http://schemas.openxmlformats.org/drawingml/2006/main">
            <a: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적용 이월 + 당월 출하</a:t>
            </a:r>
          </a:p>
        </p:txBody>
      </p:sp>
      <p:sp>
        <p:nvSpPr>
          <p:cNvPr id="4" name="process-50">
            <a:extLst xmlns:a="http://schemas.openxmlformats.org/drawingml/2006/main">
              <a:ext uri="{FF2B5EF4-FFF2-40B4-BE49-F238E27FC236}">
                <a16:creationId xmlns:a16="http://schemas.microsoft.com/office/drawing/2014/main" id="{F063AC2F-992E-4177-B056-6E5CA45C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17195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우리 장부</a:t>
            </a:r>
          </a:p>
          <a:p xmlns:a="http://schemas.openxmlformats.org/drawingml/2006/main">
            <a: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전월 이월 + ERP 입고</a:t>
            </a:r>
          </a:p>
        </p:txBody>
      </p:sp>
      <p:sp>
        <p:nvSpPr>
          <p:cNvPr id="5" name="process-51">
            <a:extLst xmlns:a="http://schemas.openxmlformats.org/drawingml/2006/main">
              <a:ext uri="{FF2B5EF4-FFF2-40B4-BE49-F238E27FC236}">
                <a16:creationId xmlns:a16="http://schemas.microsoft.com/office/drawing/2014/main" id="{051CB3FD-E199-43E8-BFA0-0499D0A7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90750"/>
            <a:ext cx="2895600" cy="1457325"/>
          </a:xfrm>
          <a:prstGeom xmlns:a="http://schemas.openxmlformats.org/drawingml/2006/main" prst="roundRect">
            <a:avLst>
              <a:gd name="adj" fmla="val 6536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기간·전표·정정 근거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품목별 차이 검토</a:t>
            </a:r>
          </a:p>
        </p:txBody>
      </p:sp>
      <p:sp>
        <p:nvSpPr>
          <p:cNvPr id="8" name="process-52">
            <a:extLst xmlns:a="http://schemas.openxmlformats.org/drawingml/2006/main">
              <a:ext uri="{FF2B5EF4-FFF2-40B4-BE49-F238E27FC236}">
                <a16:creationId xmlns:a16="http://schemas.microsoft.com/office/drawing/2014/main" id="{4C65B14C-68AC-4D48-AE52-35560514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47800"/>
            <a:ext cx="1981200" cy="10953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근거 확인</a:t>
            </a:r>
          </a:p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계산 진행</a:t>
            </a:r>
          </a:p>
        </p:txBody>
      </p:sp>
      <p:sp>
        <p:nvSpPr>
          <p:cNvPr id="9" name="process-53">
            <a:extLst xmlns:a="http://schemas.openxmlformats.org/drawingml/2006/main">
              <a:ext uri="{FF2B5EF4-FFF2-40B4-BE49-F238E27FC236}">
                <a16:creationId xmlns:a16="http://schemas.microsoft.com/office/drawing/2014/main" id="{A806A0CF-487D-4090-8E7E-966BA44E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71875"/>
            <a:ext cx="1981200" cy="10953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FFF3D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필수 미해결</a:t>
            </a:r>
          </a:p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자료 보완</a:t>
            </a:r>
          </a:p>
        </p:txBody>
      </p:sp>
      <p:sp>
        <p:nvSpPr>
          <p:cNvPr id="12" name="text-54">
            <a:extLst xmlns:a="http://schemas.openxmlformats.org/drawingml/2006/main">
              <a:ext uri="{FF2B5EF4-FFF2-40B4-BE49-F238E27FC236}">
                <a16:creationId xmlns:a16="http://schemas.microsoft.com/office/drawing/2014/main" id="{96CC924D-8CB4-475B-A3AC-C7355F97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이월 조정은 적용값을 대체해 기록합니다. 전월 보류 해소분이나 PDF 이월을 다시 입고로 더하지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21551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EDCE6-FD67-4872-9570-D349543E723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686550" y="4805363"/>
            <a:ext cx="1076325" cy="285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9DC02-4523-4594-BC14-2F120CEE4A9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09875" y="3333750"/>
            <a:ext cx="1000125" cy="15001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B4058-F965-4E55-AA51-79DB90609E2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9875" y="3333750"/>
            <a:ext cx="1000125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2E2D3-10E9-4162-8B7F-A81F0FD6660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809875" y="2247900"/>
            <a:ext cx="1000125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sp>
        <p:nvSpPr>
          <p:cNvPr id="16" name="text-55">
            <a:extLst xmlns:a="http://schemas.openxmlformats.org/drawingml/2006/main">
              <a:ext uri="{FF2B5EF4-FFF2-40B4-BE49-F238E27FC236}">
                <a16:creationId xmlns:a16="http://schemas.microsoft.com/office/drawing/2014/main" id="{ABEED119-0828-410E-8D30-3C9D7F3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가용 촉매 1,000개의 마감 예시</a:t>
            </a:r>
          </a:p>
        </p:txBody>
      </p:sp>
      <p:sp>
        <p:nvSpPr>
          <p:cNvPr id="2" name="text-56">
            <a:extLst xmlns:a="http://schemas.openxmlformats.org/drawingml/2006/main">
              <a:ext uri="{FF2B5EF4-FFF2-40B4-BE49-F238E27FC236}">
                <a16:creationId xmlns:a16="http://schemas.microsoft.com/office/drawing/2014/main" id="{AA13A59A-3FC9-43D9-9FE7-C6D83798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96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6 / 10</a:t>
            </a:r>
          </a:p>
        </p:txBody>
      </p:sp>
      <p:sp>
        <p:nvSpPr>
          <p:cNvPr id="3" name="text-57">
            <a:extLst xmlns:a="http://schemas.openxmlformats.org/drawingml/2006/main">
              <a:ext uri="{FF2B5EF4-FFF2-40B4-BE49-F238E27FC236}">
                <a16:creationId xmlns:a16="http://schemas.microsoft.com/office/drawing/2014/main" id="{F8542D91-DF2B-4490-B572-63E78D86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설명용 가정 예시입니다. 실제 9월 자료가 아닙니다.</a:t>
            </a:r>
          </a:p>
        </p:txBody>
      </p:sp>
      <p:sp>
        <p:nvSpPr>
          <p:cNvPr id="4" name="process-58">
            <a:extLst xmlns:a="http://schemas.openxmlformats.org/drawingml/2006/main">
              <a:ext uri="{FF2B5EF4-FFF2-40B4-BE49-F238E27FC236}">
                <a16:creationId xmlns:a16="http://schemas.microsoft.com/office/drawing/2014/main" id="{4E564DFD-A9FB-4365-9AD9-1B4F730C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200275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가용량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1,000개</a:t>
            </a:r>
          </a:p>
        </p:txBody>
      </p:sp>
      <p:sp>
        <p:nvSpPr>
          <p:cNvPr id="5" name="process-59">
            <a:extLst xmlns:a="http://schemas.openxmlformats.org/drawingml/2006/main">
              <a:ext uri="{FF2B5EF4-FFF2-40B4-BE49-F238E27FC236}">
                <a16:creationId xmlns:a16="http://schemas.microsoft.com/office/drawing/2014/main" id="{96E6B12F-2ABC-44DE-B6D7-A43FA45F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62125"/>
            <a:ext cx="28765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FFF3D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보류 100개</a:t>
            </a:r>
          </a:p>
          <a:p xmlns:a="http://schemas.openxmlformats.org/drawingml/2006/main">
            <a: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월말 미정산</a:t>
            </a:r>
          </a:p>
        </p:txBody>
      </p:sp>
      <p:sp>
        <p:nvSpPr>
          <p:cNvPr id="6" name="process-60">
            <a:extLst xmlns:a="http://schemas.openxmlformats.org/drawingml/2006/main">
              <a:ext uri="{FF2B5EF4-FFF2-40B4-BE49-F238E27FC236}">
                <a16:creationId xmlns:a16="http://schemas.microsoft.com/office/drawing/2014/main" id="{A83E3F2B-FC4A-440A-932D-825EED38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8765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글로비스 200개</a:t>
            </a:r>
          </a:p>
          <a:p xmlns:a="http://schemas.openxmlformats.org/drawingml/2006/main">
            <a: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별도 실제 마감</a:t>
            </a:r>
          </a:p>
        </p:txBody>
      </p:sp>
      <p:sp>
        <p:nvSpPr>
          <p:cNvPr id="7" name="process-61">
            <a:extLst xmlns:a="http://schemas.openxmlformats.org/drawingml/2006/main">
              <a:ext uri="{FF2B5EF4-FFF2-40B4-BE49-F238E27FC236}">
                <a16:creationId xmlns:a16="http://schemas.microsoft.com/office/drawing/2014/main" id="{A879F835-1682-449D-9B58-2AFA8966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10075"/>
            <a:ext cx="2876550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일반 배분 700개</a:t>
            </a:r>
          </a:p>
        </p:txBody>
      </p:sp>
      <p:sp>
        <p:nvSpPr>
          <p:cNvPr id="11" name="process-62">
            <a:extLst xmlns:a="http://schemas.openxmlformats.org/drawingml/2006/main">
              <a:ext uri="{FF2B5EF4-FFF2-40B4-BE49-F238E27FC236}">
                <a16:creationId xmlns:a16="http://schemas.microsoft.com/office/drawing/2014/main" id="{E235B9C7-E2E4-48B7-A7C9-443371D1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76725"/>
            <a:ext cx="360045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일반 A  420개</a:t>
            </a:r>
          </a:p>
          <a:p xmlns:a="http://schemas.openxmlformats.org/drawingml/2006/main">
            <a:pPr algn="ctr">
              <a:defRPr sz="21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일반 B  280개</a:t>
            </a:r>
          </a:p>
        </p:txBody>
      </p:sp>
      <p:sp>
        <p:nvSpPr>
          <p:cNvPr id="13" name="text-63">
            <a:extLst xmlns:a="http://schemas.openxmlformats.org/drawingml/2006/main">
              <a:ext uri="{FF2B5EF4-FFF2-40B4-BE49-F238E27FC236}">
                <a16:creationId xmlns:a16="http://schemas.microsoft.com/office/drawing/2014/main" id="{AB7DDCBF-D646-4214-96F8-2CD8BBD4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33575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실제 마감 900개</a:t>
            </a:r>
          </a:p>
        </p:txBody>
      </p:sp>
      <p:sp>
        <p:nvSpPr>
          <p:cNvPr id="14" name="text-64">
            <a:extLst xmlns:a="http://schemas.openxmlformats.org/drawingml/2006/main">
              <a:ext uri="{FF2B5EF4-FFF2-40B4-BE49-F238E27FC236}">
                <a16:creationId xmlns:a16="http://schemas.microsoft.com/office/drawing/2014/main" id="{0E21089E-6264-4660-B0BA-5F1510D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76525"/>
            <a:ext cx="3600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일반 700개 + 글로비스 200개</a:t>
            </a:r>
          </a:p>
        </p:txBody>
      </p:sp>
      <p:sp>
        <p:nvSpPr>
          <p:cNvPr id="15" name="text-65">
            <a:extLst xmlns:a="http://schemas.openxmlformats.org/drawingml/2006/main">
              <a:ext uri="{FF2B5EF4-FFF2-40B4-BE49-F238E27FC236}">
                <a16:creationId xmlns:a16="http://schemas.microsoft.com/office/drawing/2014/main" id="{57D963AC-6412-4A85-98FD-36B0ACD6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1,000 = 200 + 700 + 100. 미입고 글로비스 물량을 일반 공장에 넘겨 마감하지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637702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F4058-33E3-43F6-9264-D1B6718389C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4433888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CC34A-395B-46B2-914A-C6E8FC5E1D4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28950" y="288131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sp>
        <p:nvSpPr>
          <p:cNvPr id="14" name="text-66">
            <a:extLst xmlns:a="http://schemas.openxmlformats.org/drawingml/2006/main">
              <a:ext uri="{FF2B5EF4-FFF2-40B4-BE49-F238E27FC236}">
                <a16:creationId xmlns:a16="http://schemas.microsoft.com/office/drawing/2014/main" id="{3E5CA2C8-AE13-4FEF-8B7C-2C34C416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일반 마감처 배분과 금액 계산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4B53AF73-B19F-470A-9523-EA26835A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96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7 / 10</a:t>
            </a:r>
          </a:p>
        </p:txBody>
      </p:sp>
      <p:sp>
        <p:nvSpPr>
          <p:cNvPr id="3" name="text-68">
            <a:extLst xmlns:a="http://schemas.openxmlformats.org/drawingml/2006/main">
              <a:ext uri="{FF2B5EF4-FFF2-40B4-BE49-F238E27FC236}">
                <a16:creationId xmlns:a16="http://schemas.microsoft.com/office/drawing/2014/main" id="{6B7F50FF-A27E-439B-85B0-62DD7E76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공장별 촉매 기여 = 승인된 제품 수량 × BOM 소요량</a:t>
            </a:r>
          </a:p>
        </p:txBody>
      </p:sp>
      <p:sp>
        <p:nvSpPr>
          <p:cNvPr id="4" name="process-69">
            <a:extLst xmlns:a="http://schemas.openxmlformats.org/drawingml/2006/main">
              <a:ext uri="{FF2B5EF4-FFF2-40B4-BE49-F238E27FC236}">
                <a16:creationId xmlns:a16="http://schemas.microsoft.com/office/drawing/2014/main" id="{4FC44C17-369D-4D18-9AC2-0DD641C0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2419350" cy="1019175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A공장 기여</a:t>
            </a:r>
          </a:p>
          <a:p xmlns:a="http://schemas.openxmlformats.org/drawingml/2006/main">
            <a:pPr algn="ctr">
              <a:def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600</a:t>
            </a:r>
          </a:p>
        </p:txBody>
      </p:sp>
      <p:sp>
        <p:nvSpPr>
          <p:cNvPr id="5" name="process-70">
            <a:extLst xmlns:a="http://schemas.openxmlformats.org/drawingml/2006/main">
              <a:ext uri="{FF2B5EF4-FFF2-40B4-BE49-F238E27FC236}">
                <a16:creationId xmlns:a16="http://schemas.microsoft.com/office/drawing/2014/main" id="{CB77AF44-A744-4E59-B85A-67F4B982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419350" cy="1019175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B공장 기여</a:t>
            </a:r>
          </a:p>
          <a:p xmlns:a="http://schemas.openxmlformats.org/drawingml/2006/main">
            <a:pPr algn="ctr">
              <a:def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400</a:t>
            </a:r>
          </a:p>
        </p:txBody>
      </p:sp>
      <p:sp>
        <p:nvSpPr>
          <p:cNvPr id="6" name="process-71">
            <a:extLst xmlns:a="http://schemas.openxmlformats.org/drawingml/2006/main">
              <a:ext uri="{FF2B5EF4-FFF2-40B4-BE49-F238E27FC236}">
                <a16:creationId xmlns:a16="http://schemas.microsoft.com/office/drawing/2014/main" id="{25545048-2CB1-4D72-AFB9-7A360340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371725"/>
            <a:ext cx="3400425" cy="1019175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 비율 60%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700 × 60% = 420개</a:t>
            </a:r>
          </a:p>
        </p:txBody>
      </p:sp>
      <p:sp>
        <p:nvSpPr>
          <p:cNvPr id="7" name="process-72">
            <a:extLst xmlns:a="http://schemas.openxmlformats.org/drawingml/2006/main">
              <a:ext uri="{FF2B5EF4-FFF2-40B4-BE49-F238E27FC236}">
                <a16:creationId xmlns:a16="http://schemas.microsoft.com/office/drawing/2014/main" id="{D4FC35E4-24FA-487D-87D8-9DD9F78B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924300"/>
            <a:ext cx="3400425" cy="1019175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 비율 40%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700 × 40% = 280개</a:t>
            </a:r>
          </a:p>
        </p:txBody>
      </p:sp>
      <p:sp>
        <p:nvSpPr>
          <p:cNvPr id="10" name="text-73">
            <a:extLst xmlns:a="http://schemas.openxmlformats.org/drawingml/2006/main">
              <a:ext uri="{FF2B5EF4-FFF2-40B4-BE49-F238E27FC236}">
                <a16:creationId xmlns:a16="http://schemas.microsoft.com/office/drawing/2014/main" id="{DCD2FEA1-D5E8-465F-8AA7-0EF3DF6A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총 기여 1,000</a:t>
            </a:r>
          </a:p>
        </p:txBody>
      </p:sp>
      <p:sp>
        <p:nvSpPr>
          <p:cNvPr id="11" name="text-74">
            <a:extLst xmlns:a="http://schemas.openxmlformats.org/drawingml/2006/main">
              <a:ext uri="{FF2B5EF4-FFF2-40B4-BE49-F238E27FC236}">
                <a16:creationId xmlns:a16="http://schemas.microsoft.com/office/drawing/2014/main" id="{1C205262-2688-4015-A5F1-C454F73E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같은 촉매를 쓰는</a:t>
            </a:r>
          </a:p>
          <a:p xmlns:a="http://schemas.openxmlformats.org/drawingml/2006/main">
            <a:pPr algn="l">
              <a:defRPr sz="19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제품의 기여를 합산합니다.</a:t>
            </a:r>
          </a:p>
        </p:txBody>
      </p:sp>
      <p:sp>
        <p:nvSpPr>
          <p:cNvPr id="12" name="text-75">
            <a:extLst xmlns:a="http://schemas.openxmlformats.org/drawingml/2006/main">
              <a:ext uri="{FF2B5EF4-FFF2-40B4-BE49-F238E27FC236}">
                <a16:creationId xmlns:a16="http://schemas.microsoft.com/office/drawing/2014/main" id="{CFAD863B-5A53-4CF3-B3BE-847442B0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금액 = 확정 수량</a:t>
            </a:r>
          </a:p>
          <a:p xmlns:a="http://schemas.openxmlformats.org/drawingml/2006/main">
            <a:pPr algn="l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× 승인된 촉매 단가</a:t>
            </a:r>
          </a:p>
        </p:txBody>
      </p:sp>
      <p:sp>
        <p:nvSpPr>
          <p:cNvPr id="13" name="text-76">
            <a:extLst xmlns:a="http://schemas.openxmlformats.org/drawingml/2006/main">
              <a:ext uri="{FF2B5EF4-FFF2-40B4-BE49-F238E27FC236}">
                <a16:creationId xmlns:a16="http://schemas.microsoft.com/office/drawing/2014/main" id="{CDF896B8-6C10-49CF-8E94-11AB545C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수량은 양수 0.5 올림. 반올림 차이는 조정 가능한 배분분에 기록하며, 근거가 없으면 균등 배분하지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53620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19936-496F-4306-B5A2-356D8BF2040C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743825" y="46624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03449-D8B0-42ED-A4C1-29608CD58105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752725" y="4662488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BCB63-973D-4DED-936D-11ED5D89E433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743825" y="37480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3AFE5-360F-411B-9EE4-1C6DE8CE51C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752725" y="3748088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60D2E-56AC-4B1A-A76F-9A7B6FF068B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743825" y="28336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CEE34-416E-4883-A8C5-64803D5158F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52725" y="2833688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8AA8C-FC76-4C37-8932-887E0924D65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43825" y="19192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998CD-9660-437B-BA40-84B066D3293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52725" y="1919288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sp>
        <p:nvSpPr>
          <p:cNvPr id="24" name="text-77">
            <a:extLst xmlns:a="http://schemas.openxmlformats.org/drawingml/2006/main">
              <a:ext uri="{FF2B5EF4-FFF2-40B4-BE49-F238E27FC236}">
                <a16:creationId xmlns:a16="http://schemas.microsoft.com/office/drawing/2014/main" id="{7A3B7F70-DC5B-419F-9F29-17873FA0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정산 조건과 품번별 예외</a:t>
            </a:r>
          </a:p>
        </p:txBody>
      </p:sp>
      <p:sp>
        <p:nvSpPr>
          <p:cNvPr id="2" name="text-78">
            <a:extLst xmlns:a="http://schemas.openxmlformats.org/drawingml/2006/main">
              <a:ext uri="{FF2B5EF4-FFF2-40B4-BE49-F238E27FC236}">
                <a16:creationId xmlns:a16="http://schemas.microsoft.com/office/drawing/2014/main" id="{4ACA362B-5126-4BB2-A76E-CF2D3943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96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8 / 10</a:t>
            </a:r>
          </a:p>
        </p:txBody>
      </p:sp>
      <p:sp>
        <p:nvSpPr>
          <p:cNvPr id="3" name="process-79">
            <a:extLst xmlns:a="http://schemas.openxmlformats.org/drawingml/2006/main">
              <a:ext uri="{FF2B5EF4-FFF2-40B4-BE49-F238E27FC236}">
                <a16:creationId xmlns:a16="http://schemas.microsoft.com/office/drawing/2014/main" id="{648956E4-46D8-47B0-B47B-58863676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143125" cy="676275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FFF3D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글로비스</a:t>
            </a:r>
          </a:p>
        </p:txBody>
      </p:sp>
      <p:sp>
        <p:nvSpPr>
          <p:cNvPr id="4" name="text-80">
            <a:extLst xmlns:a="http://schemas.openxmlformats.org/drawingml/2006/main">
              <a:ext uri="{FF2B5EF4-FFF2-40B4-BE49-F238E27FC236}">
                <a16:creationId xmlns:a16="http://schemas.microsoft.com/office/drawing/2014/main" id="{A617437F-C8ED-46EF-A870-E173DE5A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81150"/>
            <a:ext cx="42576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실제 제품 입고 × BOM</a:t>
            </a:r>
          </a:p>
        </p:txBody>
      </p:sp>
      <p:sp>
        <p:nvSpPr>
          <p:cNvPr id="5" name="text-81">
            <a:extLst xmlns:a="http://schemas.openxmlformats.org/drawingml/2006/main">
              <a:ext uri="{FF2B5EF4-FFF2-40B4-BE49-F238E27FC236}">
                <a16:creationId xmlns:a16="http://schemas.microsoft.com/office/drawing/2014/main" id="{7641D122-1CC9-4AE1-977D-94DF2FA3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81150"/>
            <a:ext cx="31623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확인된 수량만 별도 정산</a:t>
            </a:r>
          </a:p>
        </p:txBody>
      </p:sp>
      <p:sp>
        <p:nvSpPr>
          <p:cNvPr id="8" name="process-82">
            <a:extLst xmlns:a="http://schemas.openxmlformats.org/drawingml/2006/main">
              <a:ext uri="{FF2B5EF4-FFF2-40B4-BE49-F238E27FC236}">
                <a16:creationId xmlns:a16="http://schemas.microsoft.com/office/drawing/2014/main" id="{25F14856-6D9D-4654-8D3F-7A668F21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143125" cy="676275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직사급 예외</a:t>
            </a:r>
          </a:p>
        </p:txBody>
      </p:sp>
      <p:sp>
        <p:nvSpPr>
          <p:cNvPr id="9" name="text-83">
            <a:extLst xmlns:a="http://schemas.openxmlformats.org/drawingml/2006/main">
              <a:ext uri="{FF2B5EF4-FFF2-40B4-BE49-F238E27FC236}">
                <a16:creationId xmlns:a16="http://schemas.microsoft.com/office/drawing/2014/main" id="{E7A3213E-1A4D-4972-A123-8B343E32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95550"/>
            <a:ext cx="42576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28991-4C520 전주 귀속</a:t>
            </a:r>
          </a:p>
        </p:txBody>
      </p:sp>
      <p:sp>
        <p:nvSpPr>
          <p:cNvPr id="10" name="text-84">
            <a:extLst xmlns:a="http://schemas.openxmlformats.org/drawingml/2006/main">
              <a:ext uri="{FF2B5EF4-FFF2-40B4-BE49-F238E27FC236}">
                <a16:creationId xmlns:a16="http://schemas.microsoft.com/office/drawing/2014/main" id="{DCC3095E-7CF5-414A-A14F-3B6088AE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95550"/>
            <a:ext cx="31623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글로비스 입고와 자동 복제 금지</a:t>
            </a:r>
          </a:p>
        </p:txBody>
      </p:sp>
      <p:sp>
        <p:nvSpPr>
          <p:cNvPr id="13" name="process-85">
            <a:extLst xmlns:a="http://schemas.openxmlformats.org/drawingml/2006/main">
              <a:ext uri="{FF2B5EF4-FFF2-40B4-BE49-F238E27FC236}">
                <a16:creationId xmlns:a16="http://schemas.microsoft.com/office/drawing/2014/main" id="{ABE0442E-E139-4603-9CD5-3F704B17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143125" cy="676275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일반 납품</a:t>
            </a:r>
          </a:p>
        </p:txBody>
      </p:sp>
      <p:sp>
        <p:nvSpPr>
          <p:cNvPr id="14" name="text-86">
            <a:extLst xmlns:a="http://schemas.openxmlformats.org/drawingml/2006/main">
              <a:ext uri="{FF2B5EF4-FFF2-40B4-BE49-F238E27FC236}">
                <a16:creationId xmlns:a16="http://schemas.microsoft.com/office/drawing/2014/main" id="{99957071-F514-4725-B200-4A510A32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9950"/>
            <a:ext cx="42576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승인된 수불 지점·경로</a:t>
            </a:r>
          </a:p>
        </p:txBody>
      </p:sp>
      <p:sp>
        <p:nvSpPr>
          <p:cNvPr id="15" name="text-87">
            <a:extLst xmlns:a="http://schemas.openxmlformats.org/drawingml/2006/main">
              <a:ext uri="{FF2B5EF4-FFF2-40B4-BE49-F238E27FC236}">
                <a16:creationId xmlns:a16="http://schemas.microsoft.com/office/drawing/2014/main" id="{4846F6F6-DD01-4208-BEAC-0BD0AAC1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09950"/>
            <a:ext cx="31623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세종(화성)은 울산3 근거</a:t>
            </a:r>
          </a:p>
        </p:txBody>
      </p:sp>
      <p:sp>
        <p:nvSpPr>
          <p:cNvPr id="18" name="process-88">
            <a:extLst xmlns:a="http://schemas.openxmlformats.org/drawingml/2006/main">
              <a:ext uri="{FF2B5EF4-FFF2-40B4-BE49-F238E27FC236}">
                <a16:creationId xmlns:a16="http://schemas.microsoft.com/office/drawing/2014/main" id="{B434ED06-A5F0-4574-AD4B-3391E8AD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143125" cy="676275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유미코아</a:t>
            </a:r>
          </a:p>
        </p:txBody>
      </p:sp>
      <p:sp>
        <p:nvSpPr>
          <p:cNvPr id="19" name="text-89">
            <a:extLst xmlns:a="http://schemas.openxmlformats.org/drawingml/2006/main">
              <a:ext uri="{FF2B5EF4-FFF2-40B4-BE49-F238E27FC236}">
                <a16:creationId xmlns:a16="http://schemas.microsoft.com/office/drawing/2014/main" id="{DFE118B6-9425-4657-B8D7-1E8D12C6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42576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원문 명세 + 실제 정산 상태</a:t>
            </a:r>
          </a:p>
        </p:txBody>
      </p:sp>
      <p:sp>
        <p:nvSpPr>
          <p:cNvPr id="20" name="text-90">
            <a:extLst xmlns:a="http://schemas.openxmlformats.org/drawingml/2006/main">
              <a:ext uri="{FF2B5EF4-FFF2-40B4-BE49-F238E27FC236}">
                <a16:creationId xmlns:a16="http://schemas.microsoft.com/office/drawing/2014/main" id="{AB33B713-496E-4190-A1F2-5FC29A5D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324350"/>
            <a:ext cx="31623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미마감 잔여를 다음 달로 연결</a:t>
            </a:r>
          </a:p>
        </p:txBody>
      </p:sp>
      <p:sp>
        <p:nvSpPr>
          <p:cNvPr id="23" name="text-91">
            <a:extLst xmlns:a="http://schemas.openxmlformats.org/drawingml/2006/main">
              <a:ext uri="{FF2B5EF4-FFF2-40B4-BE49-F238E27FC236}">
                <a16:creationId xmlns:a16="http://schemas.microsoft.com/office/drawing/2014/main" id="{0353FAD4-812B-4CB2-8B0B-92F8EC5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당진 H품번은 승인된 출고 적송·이동 예외를 적용합니다. 월별 분할·수정에는 사유를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128998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B4564-9556-41EA-B385-D2620A2CE9A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19525" y="3414713"/>
            <a:ext cx="981075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60EDD-5C98-4EEB-A06F-83F189AFF4B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819525" y="2528888"/>
            <a:ext cx="981075" cy="8858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0B3BF"/>
            </a:solidFill>
            <a:tailEnd type="triangle" w="med" len="med"/>
          </a:ln>
        </p:spPr>
      </p:cxnSp>
      <p:sp>
        <p:nvSpPr>
          <p:cNvPr id="12" name="text-92">
            <a:extLst xmlns:a="http://schemas.openxmlformats.org/drawingml/2006/main">
              <a:ext uri="{FF2B5EF4-FFF2-40B4-BE49-F238E27FC236}">
                <a16:creationId xmlns:a16="http://schemas.microsoft.com/office/drawing/2014/main" id="{752C0B29-71FC-416E-9E0E-9207AD4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검산·확정·출력·이월</a:t>
            </a:r>
          </a:p>
        </p:txBody>
      </p:sp>
      <p:sp>
        <p:nvSpPr>
          <p:cNvPr id="2" name="text-93">
            <a:extLst xmlns:a="http://schemas.openxmlformats.org/drawingml/2006/main">
              <a:ext uri="{FF2B5EF4-FFF2-40B4-BE49-F238E27FC236}">
                <a16:creationId xmlns:a16="http://schemas.microsoft.com/office/drawing/2014/main" id="{DE2BF437-3AF5-4778-9C78-8FC1BB67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96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9 / 10</a:t>
            </a:r>
          </a:p>
        </p:txBody>
      </p:sp>
      <p:sp>
        <p:nvSpPr>
          <p:cNvPr id="3" name="text-94">
            <a:extLst xmlns:a="http://schemas.openxmlformats.org/drawingml/2006/main">
              <a:ext uri="{FF2B5EF4-FFF2-40B4-BE49-F238E27FC236}">
                <a16:creationId xmlns:a16="http://schemas.microsoft.com/office/drawing/2014/main" id="{0FCCDDAD-E980-44CF-8FBA-98F65D40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품목별 잔액, 공장·ERP 합계, 수량×단가와 금액을 확인합니다.</a:t>
            </a:r>
          </a:p>
        </p:txBody>
      </p:sp>
      <p:sp>
        <p:nvSpPr>
          <p:cNvPr id="4" name="process-95">
            <a:extLst xmlns:a="http://schemas.openxmlformats.org/drawingml/2006/main">
              <a:ext uri="{FF2B5EF4-FFF2-40B4-BE49-F238E27FC236}">
                <a16:creationId xmlns:a16="http://schemas.microsoft.com/office/drawing/2014/main" id="{D6EB20DD-A01B-49A4-998B-CD256210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209925" cy="11906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담당자 월 확정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명세·근거 함께 저장</a:t>
            </a:r>
          </a:p>
        </p:txBody>
      </p:sp>
      <p:sp>
        <p:nvSpPr>
          <p:cNvPr id="5" name="process-96">
            <a:extLst xmlns:a="http://schemas.openxmlformats.org/drawingml/2006/main">
              <a:ext uri="{FF2B5EF4-FFF2-40B4-BE49-F238E27FC236}">
                <a16:creationId xmlns:a16="http://schemas.microsoft.com/office/drawing/2014/main" id="{40F06F1B-F77E-4857-972B-79796F55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14525"/>
            <a:ext cx="3295650" cy="1228725"/>
          </a:xfrm>
          <a:prstGeom xmlns:a="http://schemas.openxmlformats.org/drawingml/2006/main" prst="roundRect">
            <a:avLst>
              <a:gd name="adj" fmla="val 7752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E8F3F4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같은 확정본으로 출력</a:t>
            </a:r>
          </a:p>
          <a:p xmlns:a="http://schemas.openxmlformats.org/drawingml/2006/main">
            <a:pPr algn="ctr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공장·ERP·미정산 명세</a:t>
            </a:r>
          </a:p>
        </p:txBody>
      </p:sp>
      <p:sp>
        <p:nvSpPr>
          <p:cNvPr id="6" name="process-97">
            <a:extLst xmlns:a="http://schemas.openxmlformats.org/drawingml/2006/main">
              <a:ext uri="{FF2B5EF4-FFF2-40B4-BE49-F238E27FC236}">
                <a16:creationId xmlns:a16="http://schemas.microsoft.com/office/drawing/2014/main" id="{A0DB1884-553D-4DBF-BE41-055C1E80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62400"/>
            <a:ext cx="3295650" cy="1228725"/>
          </a:xfrm>
          <a:prstGeom xmlns:a="http://schemas.openxmlformats.org/drawingml/2006/main" prst="roundRect">
            <a:avLst>
              <a:gd name="adj" fmla="val 7752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FFF3DC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다음 달 이월</a:t>
            </a:r>
          </a:p>
          <a:p xmlns:a="http://schemas.openxmlformats.org/drawingml/2006/main">
            <a:pPr algn="ctr">
              <a:def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품목·귀속·잔여·근거</a:t>
            </a:r>
          </a:p>
        </p:txBody>
      </p:sp>
      <p:sp>
        <p:nvSpPr>
          <p:cNvPr id="9" name="text-98">
            <a:extLst xmlns:a="http://schemas.openxmlformats.org/drawingml/2006/main">
              <a:ext uri="{FF2B5EF4-FFF2-40B4-BE49-F238E27FC236}">
                <a16:creationId xmlns:a16="http://schemas.microsoft.com/office/drawing/2014/main" id="{7422D120-F998-4389-92B3-A9B6347C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66925"/>
            <a:ext cx="2495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원본·기준 버전</a:t>
            </a:r>
          </a:p>
          <a:p xmlns:a="http://schemas.openxmlformats.org/drawingml/2006/main">
            <a:pPr algn="l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확정 차수 보존</a:t>
            </a:r>
          </a:p>
        </p:txBody>
      </p:sp>
      <p:sp>
        <p:nvSpPr>
          <p:cNvPr id="10" name="text-99">
            <a:extLst xmlns:a="http://schemas.openxmlformats.org/drawingml/2006/main">
              <a:ext uri="{FF2B5EF4-FFF2-40B4-BE49-F238E27FC236}">
                <a16:creationId xmlns:a16="http://schemas.microsoft.com/office/drawing/2014/main" id="{924024E8-8F4F-4952-9904-D9B73EC0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05275"/>
            <a:ext cx="2495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전월 변경 시</a:t>
            </a:r>
          </a:p>
          <a:p xmlns:a="http://schemas.openxmlformats.org/drawingml/2006/main">
            <a:pPr algn="l">
              <a:def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다음 달 영향 검토</a:t>
            </a:r>
          </a:p>
        </p:txBody>
      </p:sp>
      <p:sp>
        <p:nvSpPr>
          <p:cNvPr id="11" name="text-100">
            <a:extLst xmlns:a="http://schemas.openxmlformats.org/drawingml/2006/main">
              <a:ext uri="{FF2B5EF4-FFF2-40B4-BE49-F238E27FC236}">
                <a16:creationId xmlns:a16="http://schemas.microsoft.com/office/drawing/2014/main" id="{45E4282C-1DA4-45BF-AD63-39AFEA20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근거 있는 미정산이 남아도 마감할 수 있습니다. 확정 후 수정은 새 차수로 남기고 출력 실패 시 같은 확정본을 재사용합니다.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8701246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01">
            <a:extLst xmlns:a="http://schemas.openxmlformats.org/drawingml/2006/main">
              <a:ext uri="{FF2B5EF4-FFF2-40B4-BE49-F238E27FC236}">
                <a16:creationId xmlns:a16="http://schemas.microsoft.com/office/drawing/2014/main" id="{1092F1E0-4ECD-46CB-B837-AFB5E12A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현재 구현과 다음 개발 단계</a:t>
            </a:r>
          </a:p>
        </p:txBody>
      </p:sp>
      <p:sp>
        <p:nvSpPr>
          <p:cNvPr id="2" name="text-102">
            <a:extLst xmlns:a="http://schemas.openxmlformats.org/drawingml/2006/main">
              <a:ext uri="{FF2B5EF4-FFF2-40B4-BE49-F238E27FC236}">
                <a16:creationId xmlns:a16="http://schemas.microsoft.com/office/drawing/2014/main" id="{09C84384-A449-42EB-9C85-1DEB013A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96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10 / 10</a:t>
            </a:r>
          </a:p>
        </p:txBody>
      </p:sp>
      <p:sp>
        <p:nvSpPr>
          <p:cNvPr id="3" name="text-103">
            <a:extLst xmlns:a="http://schemas.openxmlformats.org/drawingml/2006/main">
              <a:ext uri="{FF2B5EF4-FFF2-40B4-BE49-F238E27FC236}">
                <a16:creationId xmlns:a16="http://schemas.microsoft.com/office/drawing/2014/main" id="{814C9AE7-9911-4B0D-9B4F-E897FB69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현재 구현</a:t>
            </a:r>
          </a:p>
        </p:txBody>
      </p:sp>
      <p:sp>
        <p:nvSpPr>
          <p:cNvPr id="4" name="text-104">
            <a:extLst xmlns:a="http://schemas.openxmlformats.org/drawingml/2006/main">
              <a:ext uri="{FF2B5EF4-FFF2-40B4-BE49-F238E27FC236}">
                <a16:creationId xmlns:a16="http://schemas.microsoft.com/office/drawing/2014/main" id="{E754FA30-35E0-4D79-BCB9-508A5DC4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953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로컬 실행</a:t>
            </a:r>
          </a:p>
          <a:p xmlns:a="http://schemas.openxmlformats.org/drawingml/2006/main">
            <a:pPr algn="l">
              <a:def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월 작업 생성·다시 열기</a:t>
            </a:r>
          </a:p>
          <a:p xmlns:a="http://schemas.openxmlformats.org/drawingml/2006/main">
            <a:pPr algn="l">
              <a:def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메모 자동 저장·변경 이력</a:t>
            </a:r>
          </a:p>
          <a:p xmlns:a="http://schemas.openxmlformats.org/drawingml/2006/main">
            <a:pPr algn="l">
              <a:def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충돌 검사·종료·복원</a:t>
            </a:r>
          </a:p>
        </p:txBody>
      </p:sp>
      <p:sp>
        <p:nvSpPr>
          <p:cNvPr id="5" name="text-105">
            <a:extLst xmlns:a="http://schemas.openxmlformats.org/drawingml/2006/main">
              <a:ext uri="{FF2B5EF4-FFF2-40B4-BE49-F238E27FC236}">
                <a16:creationId xmlns:a16="http://schemas.microsoft.com/office/drawing/2014/main" id="{23987AFC-8E2F-49AB-9842-5C65134D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43050"/>
            <a:ext cx="4905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3065B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065B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3065B4"/>
                </a:solidFill>
                <a:latin typeface="Malgun Gothic"/>
                <a:ea typeface="Malgun Gothic"/>
                <a:cs typeface="Malgun Gothic"/>
              </a:rPr>
              <a:t>앞으로 구현</a:t>
            </a:r>
          </a:p>
        </p:txBody>
      </p:sp>
      <p:sp>
        <p:nvSpPr>
          <p:cNvPr id="6" name="text-106">
            <a:extLst xmlns:a="http://schemas.openxmlformats.org/drawingml/2006/main">
              <a:ext uri="{FF2B5EF4-FFF2-40B4-BE49-F238E27FC236}">
                <a16:creationId xmlns:a16="http://schemas.microsoft.com/office/drawing/2014/main" id="{7621604F-FA8F-44CE-92B8-0128FF83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504825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원본 엑셀·PDF 보관과 읽기</a:t>
            </a:r>
          </a:p>
          <a:p xmlns:a="http://schemas.openxmlformats.org/drawingml/2006/main">
            <a:pPr algn="l">
              <a:def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BOM·경로·단가·과거 자료 이관</a:t>
            </a:r>
          </a:p>
          <a:p xmlns:a="http://schemas.openxmlformats.org/drawingml/2006/main">
            <a:pPr algn="l">
              <a:def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배분·금액 계산과 예외 검토</a:t>
            </a:r>
          </a:p>
          <a:p xmlns:a="http://schemas.openxmlformats.org/drawingml/2006/main">
            <a:pPr algn="l">
              <a:def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2A3A"/>
                </a:solidFill>
                <a:latin typeface="Malgun Gothic"/>
                <a:ea typeface="Malgun Gothic"/>
                <a:cs typeface="Malgun Gothic"/>
              </a:rPr>
              <a:t>월 확정·엑셀 출력·백업</a:t>
            </a:r>
          </a:p>
        </p:txBody>
      </p:sp>
      <p:sp>
        <p:nvSpPr>
          <p:cNvPr id="7" name="text-107">
            <a:extLst xmlns:a="http://schemas.openxmlformats.org/drawingml/2006/main">
              <a:ext uri="{FF2B5EF4-FFF2-40B4-BE49-F238E27FC236}">
                <a16:creationId xmlns:a16="http://schemas.microsoft.com/office/drawing/2014/main" id="{5A166345-54F0-45D0-90AE-119D15B8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다음 개발 단위: W2 원본 보관·읽기</a:t>
            </a:r>
          </a:p>
        </p:txBody>
      </p:sp>
      <p:sp>
        <p:nvSpPr>
          <p:cNvPr id="8" name="text-108">
            <a:extLst xmlns:a="http://schemas.openxmlformats.org/drawingml/2006/main">
              <a:ext uri="{FF2B5EF4-FFF2-40B4-BE49-F238E27FC236}">
                <a16:creationId xmlns:a16="http://schemas.microsoft.com/office/drawing/2014/main" id="{556C018B-D6E2-48BC-9F7B-A9D8BC6E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2026-10-13 문서 기준입니다. 실제 ERP·현대기아 자동 등록은 현재 범위에 포함하지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605291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2026-10-13T05:28:56.2730000Z</dcterms:created>
  <dcterms:modified xsi:type="dcterms:W3CDTF">2026-10-13T05:28:56.2730000Z</dcterms:modified>
</coreProperties>
</file>